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EE4B2F-CEBB-4CB8-BCF1-8A957D2D5D2C}" v="18" dt="2026-06-07T15:41:44.1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d assaf" userId="99cc43a20e8f553c" providerId="LiveId" clId="{E44C0D75-47FD-41BB-AE10-9C245BD6675C}"/>
    <pc:docChg chg="undo custSel addSld modSld">
      <pc:chgData name="jad assaf" userId="99cc43a20e8f553c" providerId="LiveId" clId="{E44C0D75-47FD-41BB-AE10-9C245BD6675C}" dt="2026-06-07T15:41:47.470" v="432" actId="404"/>
      <pc:docMkLst>
        <pc:docMk/>
      </pc:docMkLst>
      <pc:sldChg chg="modSp mod">
        <pc:chgData name="jad assaf" userId="99cc43a20e8f553c" providerId="LiveId" clId="{E44C0D75-47FD-41BB-AE10-9C245BD6675C}" dt="2026-06-07T15:15:57.306" v="64" actId="27636"/>
        <pc:sldMkLst>
          <pc:docMk/>
          <pc:sldMk cId="2073618608" sldId="259"/>
        </pc:sldMkLst>
        <pc:spChg chg="mod">
          <ac:chgData name="jad assaf" userId="99cc43a20e8f553c" providerId="LiveId" clId="{E44C0D75-47FD-41BB-AE10-9C245BD6675C}" dt="2026-06-07T15:14:51.264" v="62" actId="20577"/>
          <ac:spMkLst>
            <pc:docMk/>
            <pc:sldMk cId="2073618608" sldId="259"/>
            <ac:spMk id="2" creationId="{C57224B9-22A3-400B-4B85-8925061FF2E8}"/>
          </ac:spMkLst>
        </pc:spChg>
        <pc:spChg chg="mod">
          <ac:chgData name="jad assaf" userId="99cc43a20e8f553c" providerId="LiveId" clId="{E44C0D75-47FD-41BB-AE10-9C245BD6675C}" dt="2026-06-07T15:15:57.306" v="64" actId="27636"/>
          <ac:spMkLst>
            <pc:docMk/>
            <pc:sldMk cId="2073618608" sldId="259"/>
            <ac:spMk id="3" creationId="{1F6E0A3D-B02D-9917-11BF-F7FC36404AF9}"/>
          </ac:spMkLst>
        </pc:spChg>
      </pc:sldChg>
      <pc:sldChg chg="modSp new mod">
        <pc:chgData name="jad assaf" userId="99cc43a20e8f553c" providerId="LiveId" clId="{E44C0D75-47FD-41BB-AE10-9C245BD6675C}" dt="2026-06-07T15:18:03.015" v="109" actId="404"/>
        <pc:sldMkLst>
          <pc:docMk/>
          <pc:sldMk cId="2894768893" sldId="260"/>
        </pc:sldMkLst>
        <pc:spChg chg="mod">
          <ac:chgData name="jad assaf" userId="99cc43a20e8f553c" providerId="LiveId" clId="{E44C0D75-47FD-41BB-AE10-9C245BD6675C}" dt="2026-06-07T15:16:31.298" v="104" actId="20577"/>
          <ac:spMkLst>
            <pc:docMk/>
            <pc:sldMk cId="2894768893" sldId="260"/>
            <ac:spMk id="2" creationId="{F55B399A-657B-3C88-D401-B5142F32703E}"/>
          </ac:spMkLst>
        </pc:spChg>
        <pc:spChg chg="mod">
          <ac:chgData name="jad assaf" userId="99cc43a20e8f553c" providerId="LiveId" clId="{E44C0D75-47FD-41BB-AE10-9C245BD6675C}" dt="2026-06-07T15:18:03.015" v="109" actId="404"/>
          <ac:spMkLst>
            <pc:docMk/>
            <pc:sldMk cId="2894768893" sldId="260"/>
            <ac:spMk id="3" creationId="{47768F76-DECC-831A-8860-0374B8030F9D}"/>
          </ac:spMkLst>
        </pc:spChg>
      </pc:sldChg>
      <pc:sldChg chg="modSp new mod">
        <pc:chgData name="jad assaf" userId="99cc43a20e8f553c" providerId="LiveId" clId="{E44C0D75-47FD-41BB-AE10-9C245BD6675C}" dt="2026-06-07T15:21:30.007" v="159"/>
        <pc:sldMkLst>
          <pc:docMk/>
          <pc:sldMk cId="550098311" sldId="261"/>
        </pc:sldMkLst>
        <pc:spChg chg="mod">
          <ac:chgData name="jad assaf" userId="99cc43a20e8f553c" providerId="LiveId" clId="{E44C0D75-47FD-41BB-AE10-9C245BD6675C}" dt="2026-06-07T15:21:30.007" v="159"/>
          <ac:spMkLst>
            <pc:docMk/>
            <pc:sldMk cId="550098311" sldId="261"/>
            <ac:spMk id="2" creationId="{160DE591-F8EF-3DCD-10F5-44B3CF694883}"/>
          </ac:spMkLst>
        </pc:spChg>
        <pc:spChg chg="mod">
          <ac:chgData name="jad assaf" userId="99cc43a20e8f553c" providerId="LiveId" clId="{E44C0D75-47FD-41BB-AE10-9C245BD6675C}" dt="2026-06-07T15:20:55.272" v="150" actId="20577"/>
          <ac:spMkLst>
            <pc:docMk/>
            <pc:sldMk cId="550098311" sldId="261"/>
            <ac:spMk id="3" creationId="{E8043701-E149-32FA-17AD-599364FB89B6}"/>
          </ac:spMkLst>
        </pc:spChg>
      </pc:sldChg>
      <pc:sldChg chg="modSp new mod">
        <pc:chgData name="jad assaf" userId="99cc43a20e8f553c" providerId="LiveId" clId="{E44C0D75-47FD-41BB-AE10-9C245BD6675C}" dt="2026-06-07T15:26:22.386" v="216" actId="27636"/>
        <pc:sldMkLst>
          <pc:docMk/>
          <pc:sldMk cId="1690614977" sldId="262"/>
        </pc:sldMkLst>
        <pc:spChg chg="mod">
          <ac:chgData name="jad assaf" userId="99cc43a20e8f553c" providerId="LiveId" clId="{E44C0D75-47FD-41BB-AE10-9C245BD6675C}" dt="2026-06-07T15:24:56.160" v="214" actId="20577"/>
          <ac:spMkLst>
            <pc:docMk/>
            <pc:sldMk cId="1690614977" sldId="262"/>
            <ac:spMk id="2" creationId="{2ACEC30A-084A-9A1A-C5E3-9C5E8A07F256}"/>
          </ac:spMkLst>
        </pc:spChg>
        <pc:spChg chg="mod">
          <ac:chgData name="jad assaf" userId="99cc43a20e8f553c" providerId="LiveId" clId="{E44C0D75-47FD-41BB-AE10-9C245BD6675C}" dt="2026-06-07T15:26:22.386" v="216" actId="27636"/>
          <ac:spMkLst>
            <pc:docMk/>
            <pc:sldMk cId="1690614977" sldId="262"/>
            <ac:spMk id="3" creationId="{0F671C6D-06D9-F0C9-281C-72AA8668D634}"/>
          </ac:spMkLst>
        </pc:spChg>
      </pc:sldChg>
      <pc:sldChg chg="modSp add mod">
        <pc:chgData name="jad assaf" userId="99cc43a20e8f553c" providerId="LiveId" clId="{E44C0D75-47FD-41BB-AE10-9C245BD6675C}" dt="2026-06-07T15:21:35.911" v="161" actId="20577"/>
        <pc:sldMkLst>
          <pc:docMk/>
          <pc:sldMk cId="659762966" sldId="263"/>
        </pc:sldMkLst>
        <pc:spChg chg="mod">
          <ac:chgData name="jad assaf" userId="99cc43a20e8f553c" providerId="LiveId" clId="{E44C0D75-47FD-41BB-AE10-9C245BD6675C}" dt="2026-06-07T15:21:35.911" v="161" actId="20577"/>
          <ac:spMkLst>
            <pc:docMk/>
            <pc:sldMk cId="659762966" sldId="263"/>
            <ac:spMk id="2" creationId="{4525C5B8-5C21-12D2-3FF7-3EE3CEAE03ED}"/>
          </ac:spMkLst>
        </pc:spChg>
      </pc:sldChg>
      <pc:sldChg chg="modSp new mod">
        <pc:chgData name="jad assaf" userId="99cc43a20e8f553c" providerId="LiveId" clId="{E44C0D75-47FD-41BB-AE10-9C245BD6675C}" dt="2026-06-07T15:24:12.086" v="186" actId="20577"/>
        <pc:sldMkLst>
          <pc:docMk/>
          <pc:sldMk cId="688129051" sldId="264"/>
        </pc:sldMkLst>
        <pc:spChg chg="mod">
          <ac:chgData name="jad assaf" userId="99cc43a20e8f553c" providerId="LiveId" clId="{E44C0D75-47FD-41BB-AE10-9C245BD6675C}" dt="2026-06-07T15:24:12.086" v="186" actId="20577"/>
          <ac:spMkLst>
            <pc:docMk/>
            <pc:sldMk cId="688129051" sldId="264"/>
            <ac:spMk id="2" creationId="{5C5FD00B-69B7-5B12-DFE5-5AAC63DD9F98}"/>
          </ac:spMkLst>
        </pc:spChg>
        <pc:spChg chg="mod">
          <ac:chgData name="jad assaf" userId="99cc43a20e8f553c" providerId="LiveId" clId="{E44C0D75-47FD-41BB-AE10-9C245BD6675C}" dt="2026-06-07T15:24:09.172" v="184" actId="27636"/>
          <ac:spMkLst>
            <pc:docMk/>
            <pc:sldMk cId="688129051" sldId="264"/>
            <ac:spMk id="3" creationId="{3922E66A-22AB-9F15-5683-74CAA38399F4}"/>
          </ac:spMkLst>
        </pc:spChg>
      </pc:sldChg>
      <pc:sldChg chg="modSp new mod">
        <pc:chgData name="jad assaf" userId="99cc43a20e8f553c" providerId="LiveId" clId="{E44C0D75-47FD-41BB-AE10-9C245BD6675C}" dt="2026-06-07T15:27:29.673" v="244" actId="27636"/>
        <pc:sldMkLst>
          <pc:docMk/>
          <pc:sldMk cId="3779480966" sldId="265"/>
        </pc:sldMkLst>
        <pc:spChg chg="mod">
          <ac:chgData name="jad assaf" userId="99cc43a20e8f553c" providerId="LiveId" clId="{E44C0D75-47FD-41BB-AE10-9C245BD6675C}" dt="2026-06-07T15:26:40.014" v="242" actId="20577"/>
          <ac:spMkLst>
            <pc:docMk/>
            <pc:sldMk cId="3779480966" sldId="265"/>
            <ac:spMk id="2" creationId="{37C68501-71D5-18B8-CE1A-53E0EAA4E752}"/>
          </ac:spMkLst>
        </pc:spChg>
        <pc:spChg chg="mod">
          <ac:chgData name="jad assaf" userId="99cc43a20e8f553c" providerId="LiveId" clId="{E44C0D75-47FD-41BB-AE10-9C245BD6675C}" dt="2026-06-07T15:27:29.673" v="244" actId="27636"/>
          <ac:spMkLst>
            <pc:docMk/>
            <pc:sldMk cId="3779480966" sldId="265"/>
            <ac:spMk id="3" creationId="{ECEC21B6-35E7-7663-FB68-E7B2ABECAE3C}"/>
          </ac:spMkLst>
        </pc:spChg>
      </pc:sldChg>
      <pc:sldChg chg="modSp new mod">
        <pc:chgData name="jad assaf" userId="99cc43a20e8f553c" providerId="LiveId" clId="{E44C0D75-47FD-41BB-AE10-9C245BD6675C}" dt="2026-06-07T15:28:56.142" v="259" actId="404"/>
        <pc:sldMkLst>
          <pc:docMk/>
          <pc:sldMk cId="2725958910" sldId="266"/>
        </pc:sldMkLst>
        <pc:spChg chg="mod">
          <ac:chgData name="jad assaf" userId="99cc43a20e8f553c" providerId="LiveId" clId="{E44C0D75-47FD-41BB-AE10-9C245BD6675C}" dt="2026-06-07T15:27:50.526" v="252" actId="20577"/>
          <ac:spMkLst>
            <pc:docMk/>
            <pc:sldMk cId="2725958910" sldId="266"/>
            <ac:spMk id="2" creationId="{B35FF026-BE9D-D3D2-9BF4-96FDB281190C}"/>
          </ac:spMkLst>
        </pc:spChg>
        <pc:spChg chg="mod">
          <ac:chgData name="jad assaf" userId="99cc43a20e8f553c" providerId="LiveId" clId="{E44C0D75-47FD-41BB-AE10-9C245BD6675C}" dt="2026-06-07T15:28:56.142" v="259" actId="404"/>
          <ac:spMkLst>
            <pc:docMk/>
            <pc:sldMk cId="2725958910" sldId="266"/>
            <ac:spMk id="3" creationId="{7633CC1E-4A7D-8C11-1A41-A270EB3205EF}"/>
          </ac:spMkLst>
        </pc:spChg>
      </pc:sldChg>
      <pc:sldChg chg="modSp new mod">
        <pc:chgData name="jad assaf" userId="99cc43a20e8f553c" providerId="LiveId" clId="{E44C0D75-47FD-41BB-AE10-9C245BD6675C}" dt="2026-06-07T15:30:17.375" v="269" actId="27636"/>
        <pc:sldMkLst>
          <pc:docMk/>
          <pc:sldMk cId="3813813584" sldId="267"/>
        </pc:sldMkLst>
        <pc:spChg chg="mod">
          <ac:chgData name="jad assaf" userId="99cc43a20e8f553c" providerId="LiveId" clId="{E44C0D75-47FD-41BB-AE10-9C245BD6675C}" dt="2026-06-07T15:29:21.952" v="267" actId="20577"/>
          <ac:spMkLst>
            <pc:docMk/>
            <pc:sldMk cId="3813813584" sldId="267"/>
            <ac:spMk id="2" creationId="{DB7D697D-1EDC-DFD2-9E02-EC8B07C9B174}"/>
          </ac:spMkLst>
        </pc:spChg>
        <pc:spChg chg="mod">
          <ac:chgData name="jad assaf" userId="99cc43a20e8f553c" providerId="LiveId" clId="{E44C0D75-47FD-41BB-AE10-9C245BD6675C}" dt="2026-06-07T15:30:17.375" v="269" actId="27636"/>
          <ac:spMkLst>
            <pc:docMk/>
            <pc:sldMk cId="3813813584" sldId="267"/>
            <ac:spMk id="3" creationId="{AFB0026F-51CB-0357-7B54-3EA140A1A6B2}"/>
          </ac:spMkLst>
        </pc:spChg>
      </pc:sldChg>
      <pc:sldChg chg="modSp new mod">
        <pc:chgData name="jad assaf" userId="99cc43a20e8f553c" providerId="LiveId" clId="{E44C0D75-47FD-41BB-AE10-9C245BD6675C}" dt="2026-06-07T15:33:35.607" v="323" actId="404"/>
        <pc:sldMkLst>
          <pc:docMk/>
          <pc:sldMk cId="1975623138" sldId="268"/>
        </pc:sldMkLst>
        <pc:spChg chg="mod">
          <ac:chgData name="jad assaf" userId="99cc43a20e8f553c" providerId="LiveId" clId="{E44C0D75-47FD-41BB-AE10-9C245BD6675C}" dt="2026-06-07T15:30:50.902" v="317" actId="20577"/>
          <ac:spMkLst>
            <pc:docMk/>
            <pc:sldMk cId="1975623138" sldId="268"/>
            <ac:spMk id="2" creationId="{A238A903-EF5E-D5D6-082B-C56D470741C3}"/>
          </ac:spMkLst>
        </pc:spChg>
        <pc:spChg chg="mod">
          <ac:chgData name="jad assaf" userId="99cc43a20e8f553c" providerId="LiveId" clId="{E44C0D75-47FD-41BB-AE10-9C245BD6675C}" dt="2026-06-07T15:33:35.607" v="323" actId="404"/>
          <ac:spMkLst>
            <pc:docMk/>
            <pc:sldMk cId="1975623138" sldId="268"/>
            <ac:spMk id="3" creationId="{D7A55C4E-1482-9860-AC7D-E671A09F52B1}"/>
          </ac:spMkLst>
        </pc:spChg>
      </pc:sldChg>
      <pc:sldChg chg="modSp new mod">
        <pc:chgData name="jad assaf" userId="99cc43a20e8f553c" providerId="LiveId" clId="{E44C0D75-47FD-41BB-AE10-9C245BD6675C}" dt="2026-06-07T15:36:47.655" v="394" actId="404"/>
        <pc:sldMkLst>
          <pc:docMk/>
          <pc:sldMk cId="2814741524" sldId="269"/>
        </pc:sldMkLst>
        <pc:spChg chg="mod">
          <ac:chgData name="jad assaf" userId="99cc43a20e8f553c" providerId="LiveId" clId="{E44C0D75-47FD-41BB-AE10-9C245BD6675C}" dt="2026-06-07T15:34:57.246" v="387" actId="20577"/>
          <ac:spMkLst>
            <pc:docMk/>
            <pc:sldMk cId="2814741524" sldId="269"/>
            <ac:spMk id="2" creationId="{9DA9ABF3-5BC1-5AEF-93DE-BB82094AC32F}"/>
          </ac:spMkLst>
        </pc:spChg>
        <pc:spChg chg="mod">
          <ac:chgData name="jad assaf" userId="99cc43a20e8f553c" providerId="LiveId" clId="{E44C0D75-47FD-41BB-AE10-9C245BD6675C}" dt="2026-06-07T15:36:47.655" v="394" actId="404"/>
          <ac:spMkLst>
            <pc:docMk/>
            <pc:sldMk cId="2814741524" sldId="269"/>
            <ac:spMk id="3" creationId="{7DB9B72B-0C8F-478F-BCC6-0268B4CDCE98}"/>
          </ac:spMkLst>
        </pc:spChg>
      </pc:sldChg>
      <pc:sldChg chg="modSp new mod">
        <pc:chgData name="jad assaf" userId="99cc43a20e8f553c" providerId="LiveId" clId="{E44C0D75-47FD-41BB-AE10-9C245BD6675C}" dt="2026-06-07T15:38:40.119" v="402" actId="404"/>
        <pc:sldMkLst>
          <pc:docMk/>
          <pc:sldMk cId="3850600791" sldId="270"/>
        </pc:sldMkLst>
        <pc:spChg chg="mod">
          <ac:chgData name="jad assaf" userId="99cc43a20e8f553c" providerId="LiveId" clId="{E44C0D75-47FD-41BB-AE10-9C245BD6675C}" dt="2026-06-07T15:37:59.319" v="396"/>
          <ac:spMkLst>
            <pc:docMk/>
            <pc:sldMk cId="3850600791" sldId="270"/>
            <ac:spMk id="2" creationId="{B7578853-04C7-7CCC-63B6-6ED9F21D08AF}"/>
          </ac:spMkLst>
        </pc:spChg>
        <pc:spChg chg="mod">
          <ac:chgData name="jad assaf" userId="99cc43a20e8f553c" providerId="LiveId" clId="{E44C0D75-47FD-41BB-AE10-9C245BD6675C}" dt="2026-06-07T15:38:40.119" v="402" actId="404"/>
          <ac:spMkLst>
            <pc:docMk/>
            <pc:sldMk cId="3850600791" sldId="270"/>
            <ac:spMk id="3" creationId="{FCB7D151-5CBE-3B36-AC6F-7B4047F1CA7C}"/>
          </ac:spMkLst>
        </pc:spChg>
      </pc:sldChg>
      <pc:sldChg chg="modSp new mod">
        <pc:chgData name="jad assaf" userId="99cc43a20e8f553c" providerId="LiveId" clId="{E44C0D75-47FD-41BB-AE10-9C245BD6675C}" dt="2026-06-07T15:41:47.470" v="432" actId="404"/>
        <pc:sldMkLst>
          <pc:docMk/>
          <pc:sldMk cId="3304276469" sldId="271"/>
        </pc:sldMkLst>
        <pc:spChg chg="mod">
          <ac:chgData name="jad assaf" userId="99cc43a20e8f553c" providerId="LiveId" clId="{E44C0D75-47FD-41BB-AE10-9C245BD6675C}" dt="2026-06-07T15:40:19.066" v="427" actId="122"/>
          <ac:spMkLst>
            <pc:docMk/>
            <pc:sldMk cId="3304276469" sldId="271"/>
            <ac:spMk id="2" creationId="{02E8B412-8ECA-6886-5C6E-8CA84693B15C}"/>
          </ac:spMkLst>
        </pc:spChg>
        <pc:spChg chg="mod">
          <ac:chgData name="jad assaf" userId="99cc43a20e8f553c" providerId="LiveId" clId="{E44C0D75-47FD-41BB-AE10-9C245BD6675C}" dt="2026-06-07T15:41:47.470" v="432" actId="404"/>
          <ac:spMkLst>
            <pc:docMk/>
            <pc:sldMk cId="3304276469" sldId="271"/>
            <ac:spMk id="3" creationId="{6F94FBE3-E0D4-5324-F608-05641C1BF5C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F1B9C-2935-8FCF-D80E-68C657BE84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C3403E-14DC-182C-6703-C3F747C3E6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6B620E-ADE3-7B14-C002-BB6D5EFE0D30}"/>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5" name="Footer Placeholder 4">
            <a:extLst>
              <a:ext uri="{FF2B5EF4-FFF2-40B4-BE49-F238E27FC236}">
                <a16:creationId xmlns:a16="http://schemas.microsoft.com/office/drawing/2014/main" id="{4B62A875-D7E5-E0F5-B2B1-B1090F9C49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D418B3-AAA1-C2FD-625B-7073773342FF}"/>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2334354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592F9-1ABE-0222-0EA6-B3AF4641A4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0CA302-E590-9637-7D1D-6A701D227D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154975-4874-EB9F-4833-AF841FBAC813}"/>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5" name="Footer Placeholder 4">
            <a:extLst>
              <a:ext uri="{FF2B5EF4-FFF2-40B4-BE49-F238E27FC236}">
                <a16:creationId xmlns:a16="http://schemas.microsoft.com/office/drawing/2014/main" id="{0E2EA838-B10D-8F76-C275-41262872F7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6A7C1-4194-8E60-3B4A-C8040BBE33FA}"/>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2517804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71C29-CCA8-FBC2-A7E3-F6503ED27B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3B9026-9A28-E450-75EA-382E5DB0D3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407345-43D2-2EDF-CF6D-92CC89260909}"/>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5" name="Footer Placeholder 4">
            <a:extLst>
              <a:ext uri="{FF2B5EF4-FFF2-40B4-BE49-F238E27FC236}">
                <a16:creationId xmlns:a16="http://schemas.microsoft.com/office/drawing/2014/main" id="{03F05F12-56CA-E9D9-B93D-4B467C34E8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69094F-BCA2-FC54-DE3F-7C8D2FC0256E}"/>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2132369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3CD9E-7D83-0328-88CC-23FA7327B3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05122-F40A-CF08-74A3-F4AB9AD992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5E7683-BF06-9BA5-DE56-8A8BBFAB06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07411B-8757-1DEA-5C30-2C8BF7B45A69}"/>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6" name="Footer Placeholder 5">
            <a:extLst>
              <a:ext uri="{FF2B5EF4-FFF2-40B4-BE49-F238E27FC236}">
                <a16:creationId xmlns:a16="http://schemas.microsoft.com/office/drawing/2014/main" id="{6E040093-B114-FC45-7F67-F053EB4E18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4DD84-AD97-5C40-3FD9-88C296AEEB53}"/>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312356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35C66-9540-D80C-A633-DA36E3690E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0A8DE9-80E4-CD92-4224-A6176391FE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61EDC2-D503-A3F0-1E43-7D2558BD70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121FDC-4D7E-A6D2-F065-715E97EE58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DDD479-87F3-A526-7A82-3717FB6441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B04DCA-5AAA-367D-E8BB-B9AEFBBE1186}"/>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8" name="Footer Placeholder 7">
            <a:extLst>
              <a:ext uri="{FF2B5EF4-FFF2-40B4-BE49-F238E27FC236}">
                <a16:creationId xmlns:a16="http://schemas.microsoft.com/office/drawing/2014/main" id="{F4467256-5502-9DB4-E481-1A84148C90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E799E2-1462-777C-00A2-7A49757F3C40}"/>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2611876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F4C12-3394-AE23-15F0-534E51C63A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9FE02D-8692-59E0-A5D1-284C21A2D7BD}"/>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4" name="Footer Placeholder 3">
            <a:extLst>
              <a:ext uri="{FF2B5EF4-FFF2-40B4-BE49-F238E27FC236}">
                <a16:creationId xmlns:a16="http://schemas.microsoft.com/office/drawing/2014/main" id="{CB8AFA44-7237-B241-B6B2-6B5FDC38B7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EAD538-D8B1-7348-D977-73861BD718F0}"/>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3881603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5D2B88-5345-F05E-2C1D-1E310D489996}"/>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3" name="Footer Placeholder 2">
            <a:extLst>
              <a:ext uri="{FF2B5EF4-FFF2-40B4-BE49-F238E27FC236}">
                <a16:creationId xmlns:a16="http://schemas.microsoft.com/office/drawing/2014/main" id="{83B58ACE-8ADD-E199-DAEB-04376C0787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03AC3A-E951-B1CB-65DC-58A431BC4C02}"/>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626931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E26DA-1043-83B6-2303-8295A6161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CD14DB-ED25-AF0B-0375-E36F30095C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FA3303-2360-E202-645C-D4F9CD046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1EA898-F824-ED59-B2AC-900B8EB14D4A}"/>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6" name="Footer Placeholder 5">
            <a:extLst>
              <a:ext uri="{FF2B5EF4-FFF2-40B4-BE49-F238E27FC236}">
                <a16:creationId xmlns:a16="http://schemas.microsoft.com/office/drawing/2014/main" id="{7686BA76-35A9-88A8-8C2C-5C37359DC3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15AD1C-D739-9116-CDCF-11A30660E8B8}"/>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1057381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21D7B-D41C-A959-C615-1F3FA84A32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A2C519-286C-C7A6-CF18-07D09F225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BE3AA9-703F-6377-4F00-931A011AC5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97D195-997A-1CB9-D4EB-598FFC1D23BE}"/>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6" name="Footer Placeholder 5">
            <a:extLst>
              <a:ext uri="{FF2B5EF4-FFF2-40B4-BE49-F238E27FC236}">
                <a16:creationId xmlns:a16="http://schemas.microsoft.com/office/drawing/2014/main" id="{0F26D850-54DE-C7D8-6134-5BD2EE0FCC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F29A47-885C-F107-DF4F-287933425503}"/>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3488026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2A7EC-3720-AD0F-63EB-0A55543203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76F836-94C4-F65D-48AE-CAE92CE162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310AD-F9B3-EE4F-7ED3-86F82DE4BE15}"/>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5" name="Footer Placeholder 4">
            <a:extLst>
              <a:ext uri="{FF2B5EF4-FFF2-40B4-BE49-F238E27FC236}">
                <a16:creationId xmlns:a16="http://schemas.microsoft.com/office/drawing/2014/main" id="{0FEA7A0A-3303-E8F5-2A3D-5D5C1A9416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D9AD0-0088-71A3-023E-5127E01E4C32}"/>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890841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60A289-5D73-D8BB-ED87-D1B565016E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9D9C1C-F517-9F32-7011-BC6EBB639E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CC1D90-28AB-16C9-58BF-074468552C46}"/>
              </a:ext>
            </a:extLst>
          </p:cNvPr>
          <p:cNvSpPr>
            <a:spLocks noGrp="1"/>
          </p:cNvSpPr>
          <p:nvPr>
            <p:ph type="dt" sz="half" idx="10"/>
          </p:nvPr>
        </p:nvSpPr>
        <p:spPr/>
        <p:txBody>
          <a:bodyPr/>
          <a:lstStyle/>
          <a:p>
            <a:fld id="{AB13387E-4479-41F6-9EBE-72CEB6FF5A19}" type="datetimeFigureOut">
              <a:rPr lang="en-US" smtClean="0"/>
              <a:t>07-Jun-26</a:t>
            </a:fld>
            <a:endParaRPr lang="en-US"/>
          </a:p>
        </p:txBody>
      </p:sp>
      <p:sp>
        <p:nvSpPr>
          <p:cNvPr id="5" name="Footer Placeholder 4">
            <a:extLst>
              <a:ext uri="{FF2B5EF4-FFF2-40B4-BE49-F238E27FC236}">
                <a16:creationId xmlns:a16="http://schemas.microsoft.com/office/drawing/2014/main" id="{1A0BC4A8-0D36-B270-5383-3F100615A3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D04D3-4335-FAA3-0F08-3E4AFE1DC55C}"/>
              </a:ext>
            </a:extLst>
          </p:cNvPr>
          <p:cNvSpPr>
            <a:spLocks noGrp="1"/>
          </p:cNvSpPr>
          <p:nvPr>
            <p:ph type="sldNum" sz="quarter" idx="12"/>
          </p:nvPr>
        </p:nvSpPr>
        <p:spPr/>
        <p:txBody>
          <a:bodyPr/>
          <a:lstStyle/>
          <a:p>
            <a:fld id="{B3E009B9-5D74-454C-8AE2-2C02AD495A92}" type="slidenum">
              <a:rPr lang="en-US" smtClean="0"/>
              <a:t>‹#›</a:t>
            </a:fld>
            <a:endParaRPr lang="en-US"/>
          </a:p>
        </p:txBody>
      </p:sp>
    </p:spTree>
    <p:extLst>
      <p:ext uri="{BB962C8B-B14F-4D97-AF65-F5344CB8AC3E}">
        <p14:creationId xmlns:p14="http://schemas.microsoft.com/office/powerpoint/2010/main" val="1983124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4D3438-B822-D653-1753-F9B5FF296A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97F603-A65B-5F97-92B1-15F10FCD0A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F62E8-DFE2-C88A-EFEB-7852AD9E0A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13387E-4479-41F6-9EBE-72CEB6FF5A19}" type="datetimeFigureOut">
              <a:rPr lang="en-US" smtClean="0"/>
              <a:t>07-Jun-26</a:t>
            </a:fld>
            <a:endParaRPr lang="en-US"/>
          </a:p>
        </p:txBody>
      </p:sp>
      <p:sp>
        <p:nvSpPr>
          <p:cNvPr id="5" name="Footer Placeholder 4">
            <a:extLst>
              <a:ext uri="{FF2B5EF4-FFF2-40B4-BE49-F238E27FC236}">
                <a16:creationId xmlns:a16="http://schemas.microsoft.com/office/drawing/2014/main" id="{7F6BFF49-048E-E7E7-FE28-4ED39F3C32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4FF5694-A91C-CD5E-F017-3E9E4CEF9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E009B9-5D74-454C-8AE2-2C02AD495A92}" type="slidenum">
              <a:rPr lang="en-US" smtClean="0"/>
              <a:t>‹#›</a:t>
            </a:fld>
            <a:endParaRPr lang="en-US"/>
          </a:p>
        </p:txBody>
      </p:sp>
    </p:spTree>
    <p:extLst>
      <p:ext uri="{BB962C8B-B14F-4D97-AF65-F5344CB8AC3E}">
        <p14:creationId xmlns:p14="http://schemas.microsoft.com/office/powerpoint/2010/main" val="2934234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2C5A2-FD74-9156-0B64-4F9CE02D6BF0}"/>
              </a:ext>
            </a:extLst>
          </p:cNvPr>
          <p:cNvSpPr>
            <a:spLocks noGrp="1"/>
          </p:cNvSpPr>
          <p:nvPr>
            <p:ph type="ctrTitle"/>
          </p:nvPr>
        </p:nvSpPr>
        <p:spPr/>
        <p:txBody>
          <a:bodyPr/>
          <a:lstStyle/>
          <a:p>
            <a:r>
              <a:rPr lang="en-US" dirty="0"/>
              <a:t>Jad’s Profile </a:t>
            </a:r>
          </a:p>
        </p:txBody>
      </p:sp>
      <p:sp>
        <p:nvSpPr>
          <p:cNvPr id="3" name="Subtitle 2">
            <a:extLst>
              <a:ext uri="{FF2B5EF4-FFF2-40B4-BE49-F238E27FC236}">
                <a16:creationId xmlns:a16="http://schemas.microsoft.com/office/drawing/2014/main" id="{128297E7-22C7-F5D0-3410-D0F4E0FA33A1}"/>
              </a:ext>
            </a:extLst>
          </p:cNvPr>
          <p:cNvSpPr>
            <a:spLocks noGrp="1"/>
          </p:cNvSpPr>
          <p:nvPr>
            <p:ph type="subTitle" idx="1"/>
          </p:nvPr>
        </p:nvSpPr>
        <p:spPr/>
        <p:txBody>
          <a:bodyPr/>
          <a:lstStyle/>
          <a:p>
            <a:r>
              <a:rPr lang="en-US" dirty="0"/>
              <a:t>Projects and Events</a:t>
            </a:r>
          </a:p>
          <a:p>
            <a:endParaRPr lang="en-US" dirty="0"/>
          </a:p>
        </p:txBody>
      </p:sp>
    </p:spTree>
    <p:extLst>
      <p:ext uri="{BB962C8B-B14F-4D97-AF65-F5344CB8AC3E}">
        <p14:creationId xmlns:p14="http://schemas.microsoft.com/office/powerpoint/2010/main" val="2283728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09CDB-074D-FC02-CA08-AAC62A8DF38A}"/>
              </a:ext>
            </a:extLst>
          </p:cNvPr>
          <p:cNvSpPr>
            <a:spLocks noGrp="1"/>
          </p:cNvSpPr>
          <p:nvPr>
            <p:ph type="title"/>
          </p:nvPr>
        </p:nvSpPr>
        <p:spPr/>
        <p:txBody>
          <a:bodyPr>
            <a:normAutofit/>
          </a:bodyPr>
          <a:lstStyle/>
          <a:p>
            <a:r>
              <a:rPr lang="en-US" sz="3600" dirty="0"/>
              <a:t>ALULA Conference For Emerging Market Economies </a:t>
            </a:r>
          </a:p>
        </p:txBody>
      </p:sp>
      <p:sp>
        <p:nvSpPr>
          <p:cNvPr id="3" name="Content Placeholder 2">
            <a:extLst>
              <a:ext uri="{FF2B5EF4-FFF2-40B4-BE49-F238E27FC236}">
                <a16:creationId xmlns:a16="http://schemas.microsoft.com/office/drawing/2014/main" id="{812C38FC-34E0-6376-0346-72AA14CD7E38}"/>
              </a:ext>
            </a:extLst>
          </p:cNvPr>
          <p:cNvSpPr>
            <a:spLocks noGrp="1"/>
          </p:cNvSpPr>
          <p:nvPr>
            <p:ph idx="1"/>
          </p:nvPr>
        </p:nvSpPr>
        <p:spPr/>
        <p:txBody>
          <a:bodyPr>
            <a:normAutofit fontScale="25000" lnSpcReduction="20000"/>
          </a:bodyPr>
          <a:lstStyle/>
          <a:p>
            <a:r>
              <a:rPr lang="en-US" b="1" dirty="0"/>
              <a:t>Client</a:t>
            </a:r>
          </a:p>
          <a:p>
            <a:r>
              <a:rPr lang="en-US" b="1" dirty="0"/>
              <a:t>Ministry of Finance, Kingdom of Saudi Arabia</a:t>
            </a:r>
            <a:r>
              <a:rPr lang="en-US" dirty="0"/>
              <a:t>, in partnership with the </a:t>
            </a:r>
            <a:r>
              <a:rPr lang="en-US" b="1" dirty="0"/>
              <a:t>International Monetary Fund (IMF)</a:t>
            </a:r>
            <a:r>
              <a:rPr lang="en-US" dirty="0"/>
              <a:t>.</a:t>
            </a:r>
          </a:p>
          <a:p>
            <a:r>
              <a:rPr lang="en-US" b="1" dirty="0"/>
              <a:t>Event Sensitivity</a:t>
            </a:r>
          </a:p>
          <a:p>
            <a:r>
              <a:rPr lang="en-US" dirty="0"/>
              <a:t>A highly confidential, high-profile international conference attended by ministers of finance, central bank governors, senior government officials, international organizations, policy makers, and global economic leaders. The event required strict protocol management, security coordination, controlled access, and meticulous handling of attendee information, logistics, and communications.</a:t>
            </a:r>
          </a:p>
          <a:p>
            <a:r>
              <a:rPr lang="en-US" b="1" dirty="0"/>
              <a:t>My Role</a:t>
            </a:r>
          </a:p>
          <a:p>
            <a:r>
              <a:rPr lang="en-US" b="1" dirty="0"/>
              <a:t>Registration, Website, Audience Management, and Content Lead</a:t>
            </a:r>
            <a:endParaRPr lang="en-US" dirty="0"/>
          </a:p>
          <a:p>
            <a:r>
              <a:rPr lang="en-US" dirty="0"/>
              <a:t>I was responsible for overseeing the conference's digital and attendee management ecosystem, including the development and management of the official event website and registration platform. Working closely with technical teams, I led the design and implementation of the attendee journey from invitation through arrival and participation.</a:t>
            </a:r>
          </a:p>
          <a:p>
            <a:r>
              <a:rPr lang="en-US" dirty="0"/>
              <a:t>My responsibilities included:</a:t>
            </a:r>
          </a:p>
          <a:p>
            <a:r>
              <a:rPr lang="en-US" dirty="0"/>
              <a:t>Leading the development and management of the conference website and registration system. </a:t>
            </a:r>
          </a:p>
          <a:p>
            <a:r>
              <a:rPr lang="en-US" dirty="0"/>
              <a:t>Managing attendee registration processes for ministers, central bank governors, delegates, speakers, companions, protocol teams, and international organizations. </a:t>
            </a:r>
          </a:p>
          <a:p>
            <a:r>
              <a:rPr lang="en-US" dirty="0"/>
              <a:t>Coordinating closely with logistics, protocol, transportation, and accommodation teams to ensure all attendee information was accurately captured and reflected within the system. </a:t>
            </a:r>
          </a:p>
          <a:p>
            <a:r>
              <a:rPr lang="en-US" dirty="0"/>
              <a:t>Overseeing the integration and management of travel itineraries, flight allocations, hotel assignments, transportation schedules, and VIP movement requirements. </a:t>
            </a:r>
          </a:p>
          <a:p>
            <a:r>
              <a:rPr lang="en-US" dirty="0"/>
              <a:t>Conducting data analysis and reporting to support operational decision-making, attendee tracking, and stakeholder updates. </a:t>
            </a:r>
          </a:p>
          <a:p>
            <a:r>
              <a:rPr lang="en-US" dirty="0"/>
              <a:t>Managing audience segmentation, access levels, permissions, and accreditation processes across multiple attendee categories. </a:t>
            </a:r>
          </a:p>
          <a:p>
            <a:r>
              <a:rPr lang="en-US" dirty="0"/>
              <a:t>Leading crowd management planning, attendee flow design, access control strategies, and coordination with security and protocol teams to ensure a seamless and secure delegate experience. </a:t>
            </a:r>
          </a:p>
          <a:p>
            <a:r>
              <a:rPr lang="en-US" dirty="0"/>
              <a:t>Supporting high-security operational requirements by ensuring accurate attendee validation, movement tracking, and controlled access to sensitive areas. </a:t>
            </a:r>
          </a:p>
          <a:p>
            <a:r>
              <a:rPr lang="en-US" dirty="0"/>
              <a:t>Overseeing all conference content and copywriting activities, ensuring consistency, accuracy, alignment with stakeholder expectations, and coordination between the Ministry of Finance, IMF, and project teams. </a:t>
            </a:r>
          </a:p>
          <a:p>
            <a:r>
              <a:rPr lang="en-US" dirty="0"/>
              <a:t>Acting as a key liaison between digital, registration, logistics, protocol, content, and operational workstreams to ensure a unified attendee experience from invitation through departure. </a:t>
            </a:r>
          </a:p>
          <a:p>
            <a:r>
              <a:rPr lang="en-US" dirty="0"/>
              <a:t>This role required a combination of strategic planning, stakeholder management, data governance, operational coordination, digital platform management, and executive-level event delivery for one of the region's most prestigious economic conferences.</a:t>
            </a:r>
          </a:p>
          <a:p>
            <a:pPr marL="0" indent="0">
              <a:buNone/>
            </a:pPr>
            <a:endParaRPr lang="en-US" dirty="0"/>
          </a:p>
        </p:txBody>
      </p:sp>
    </p:spTree>
    <p:extLst>
      <p:ext uri="{BB962C8B-B14F-4D97-AF65-F5344CB8AC3E}">
        <p14:creationId xmlns:p14="http://schemas.microsoft.com/office/powerpoint/2010/main" val="3625977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859B-99F6-9030-EAF0-B69D09D16F70}"/>
              </a:ext>
            </a:extLst>
          </p:cNvPr>
          <p:cNvSpPr>
            <a:spLocks noGrp="1"/>
          </p:cNvSpPr>
          <p:nvPr>
            <p:ph type="title"/>
          </p:nvPr>
        </p:nvSpPr>
        <p:spPr/>
        <p:txBody>
          <a:bodyPr/>
          <a:lstStyle/>
          <a:p>
            <a:r>
              <a:rPr lang="en-US" dirty="0"/>
              <a:t>BIBAN23</a:t>
            </a:r>
          </a:p>
        </p:txBody>
      </p:sp>
      <p:sp>
        <p:nvSpPr>
          <p:cNvPr id="3" name="Content Placeholder 2">
            <a:extLst>
              <a:ext uri="{FF2B5EF4-FFF2-40B4-BE49-F238E27FC236}">
                <a16:creationId xmlns:a16="http://schemas.microsoft.com/office/drawing/2014/main" id="{674A4F66-60BF-8F6F-0B5F-BC8B80F50D42}"/>
              </a:ext>
            </a:extLst>
          </p:cNvPr>
          <p:cNvSpPr>
            <a:spLocks noGrp="1"/>
          </p:cNvSpPr>
          <p:nvPr>
            <p:ph idx="1"/>
          </p:nvPr>
        </p:nvSpPr>
        <p:spPr>
          <a:xfrm>
            <a:off x="838200" y="1825624"/>
            <a:ext cx="10515600" cy="4931791"/>
          </a:xfrm>
        </p:spPr>
        <p:txBody>
          <a:bodyPr>
            <a:noAutofit/>
          </a:bodyPr>
          <a:lstStyle/>
          <a:p>
            <a:r>
              <a:rPr lang="en-US" sz="300" b="1" dirty="0"/>
              <a:t>Client</a:t>
            </a:r>
          </a:p>
          <a:p>
            <a:r>
              <a:rPr lang="en-US" sz="300" dirty="0" err="1"/>
              <a:t>Monsha'at</a:t>
            </a:r>
            <a:endParaRPr lang="en-US" sz="300" dirty="0"/>
          </a:p>
          <a:p>
            <a:r>
              <a:rPr lang="en-US" sz="300" b="1" dirty="0"/>
              <a:t>Event Scale &amp; Complexity</a:t>
            </a:r>
          </a:p>
          <a:p>
            <a:r>
              <a:rPr lang="en-US" sz="300" dirty="0"/>
              <a:t>BIBAN 23 was one of the largest and most complex entrepreneurship and business events in the region, bringing together government entities, investors, entrepreneurs, startups, SMEs, international delegations, media representatives, speakers, and exhibitors under one platform.</a:t>
            </a:r>
          </a:p>
          <a:p>
            <a:r>
              <a:rPr lang="en-US" sz="300" dirty="0"/>
              <a:t>The event featured:</a:t>
            </a:r>
          </a:p>
          <a:p>
            <a:r>
              <a:rPr lang="en-US" sz="300" dirty="0"/>
              <a:t>More than 500 exhibitors. </a:t>
            </a:r>
          </a:p>
          <a:p>
            <a:r>
              <a:rPr lang="en-US" sz="300" dirty="0"/>
              <a:t>Multiple conference and content stages (5 stages operating simultaneously). </a:t>
            </a:r>
          </a:p>
          <a:p>
            <a:r>
              <a:rPr lang="en-US" sz="300" dirty="0"/>
              <a:t>Workshops, training sessions, and networking programs. </a:t>
            </a:r>
          </a:p>
          <a:p>
            <a:r>
              <a:rPr lang="en-US" sz="300" dirty="0"/>
              <a:t>Dedicated meeting rooms and business matchmaking activities. </a:t>
            </a:r>
          </a:p>
          <a:p>
            <a:r>
              <a:rPr lang="en-US" sz="300" dirty="0"/>
              <a:t>VIP, government, investor, media, speaker, exhibitor, and visitor management. </a:t>
            </a:r>
          </a:p>
          <a:p>
            <a:r>
              <a:rPr lang="en-US" sz="300" dirty="0"/>
              <a:t>A comprehensive mobile application incorporating navigation, matchmaking, schedules, and attendee engagement tools. </a:t>
            </a:r>
          </a:p>
          <a:p>
            <a:r>
              <a:rPr lang="en-US" sz="300" b="1" dirty="0"/>
              <a:t>My Role</a:t>
            </a:r>
          </a:p>
          <a:p>
            <a:r>
              <a:rPr lang="en-US" sz="300" b="1" dirty="0"/>
              <a:t>Head of Audience Management, Registration Systems &amp; Digital Experience</a:t>
            </a:r>
            <a:endParaRPr lang="en-US" sz="300" dirty="0"/>
          </a:p>
          <a:p>
            <a:r>
              <a:rPr lang="en-US" sz="300" dirty="0"/>
              <a:t>I was responsible for the design, implementation, and operational management of the event's audience ecosystem, ensuring a seamless experience across registration, accreditation, access control, engagement, and attendee movement.</a:t>
            </a:r>
          </a:p>
          <a:p>
            <a:r>
              <a:rPr lang="en-US" sz="300" dirty="0"/>
              <a:t>My responsibilities included:</a:t>
            </a:r>
          </a:p>
          <a:p>
            <a:r>
              <a:rPr lang="en-US" sz="300" dirty="0"/>
              <a:t>Leading the development and management of the event registration system and attendee accreditation framework. </a:t>
            </a:r>
          </a:p>
          <a:p>
            <a:r>
              <a:rPr lang="en-US" sz="300" dirty="0"/>
              <a:t>Overseeing audience management across all attendee categories, including VIPs, government officials, guests, exhibitors, speakers, media representatives, investors, entrepreneurs, and visitors. </a:t>
            </a:r>
          </a:p>
          <a:p>
            <a:r>
              <a:rPr lang="en-US" sz="300" dirty="0"/>
              <a:t>Managing the digital attendee journey from registration through on-site participation. </a:t>
            </a:r>
          </a:p>
          <a:p>
            <a:r>
              <a:rPr lang="en-US" sz="300" dirty="0"/>
              <a:t>Supporting the development and implementation of the event mobile application, including attendee navigation, matchmaking, schedules, and engagement features. </a:t>
            </a:r>
          </a:p>
          <a:p>
            <a:r>
              <a:rPr lang="en-US" sz="300" dirty="0"/>
              <a:t>Overseeing the booking and management systems for meeting rooms, workshops, training sessions, and business networking activities. </a:t>
            </a:r>
          </a:p>
          <a:p>
            <a:r>
              <a:rPr lang="en-US" sz="300" dirty="0"/>
              <a:t>Managing attendee data, behavioral analytics, attendance tracking, reporting dashboards, and operational insights to support decision-making throughout the event. </a:t>
            </a:r>
          </a:p>
          <a:p>
            <a:r>
              <a:rPr lang="en-US" sz="300" dirty="0"/>
              <a:t>Designing and implementing access-level structures and permissions to ensure the correct audience groups could access the appropriate zones, sessions, stages, and meeting areas. </a:t>
            </a:r>
          </a:p>
          <a:p>
            <a:r>
              <a:rPr lang="en-US" sz="300" dirty="0"/>
              <a:t>Leading crowd management planning and visitor flow strategies across the exhibition halls, conference areas, meeting rooms, and public spaces. </a:t>
            </a:r>
          </a:p>
          <a:p>
            <a:r>
              <a:rPr lang="en-US" sz="300" dirty="0"/>
              <a:t>Coordinating closely with operations, security, protocol, exhibitors, and technology teams to ensure smooth movement and a positive visitor experience. </a:t>
            </a:r>
          </a:p>
          <a:p>
            <a:r>
              <a:rPr lang="en-US" sz="300" dirty="0"/>
              <a:t>Managing and directing a workforce of approximately </a:t>
            </a:r>
            <a:r>
              <a:rPr lang="en-US" sz="300" b="1" dirty="0"/>
              <a:t>350 promoters and ushers</a:t>
            </a:r>
            <a:r>
              <a:rPr lang="en-US" sz="300" dirty="0"/>
              <a:t>, ensuring consistent execution of registration, wayfinding, attendee support, access control, and crowd-flow procedures. </a:t>
            </a:r>
          </a:p>
          <a:p>
            <a:r>
              <a:rPr lang="en-US" sz="300" dirty="0"/>
              <a:t>Working alongside a large technical and operational team to ensure all digital platforms, registration systems, reporting tools, and attendee-facing technologies functioned effectively throughout the event. </a:t>
            </a:r>
          </a:p>
          <a:p>
            <a:r>
              <a:rPr lang="en-US" sz="300" dirty="0"/>
              <a:t>Providing real-time operational oversight and data-driven decision-making to support one of the Kingdom's largest business and entrepreneurship gatherings. </a:t>
            </a:r>
          </a:p>
          <a:p>
            <a:r>
              <a:rPr lang="en-US" sz="300" dirty="0"/>
              <a:t>This role required leadership across digital transformation, audience operations, registration technology, analytics, crowd management, workforce management, and stakeholder coordination, making BIBAN 23 one of the most operationally demanding and strategically significant projects within my portfolio.</a:t>
            </a:r>
          </a:p>
          <a:p>
            <a:endParaRPr lang="en-US" sz="300" dirty="0"/>
          </a:p>
        </p:txBody>
      </p:sp>
    </p:spTree>
    <p:extLst>
      <p:ext uri="{BB962C8B-B14F-4D97-AF65-F5344CB8AC3E}">
        <p14:creationId xmlns:p14="http://schemas.microsoft.com/office/powerpoint/2010/main" val="2091951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224B9-22A3-400B-4B85-8925061FF2E8}"/>
              </a:ext>
            </a:extLst>
          </p:cNvPr>
          <p:cNvSpPr>
            <a:spLocks noGrp="1"/>
          </p:cNvSpPr>
          <p:nvPr>
            <p:ph type="title"/>
          </p:nvPr>
        </p:nvSpPr>
        <p:spPr/>
        <p:txBody>
          <a:bodyPr/>
          <a:lstStyle/>
          <a:p>
            <a:r>
              <a:rPr lang="en-US" dirty="0"/>
              <a:t>Regional Social Security Forum for Asia and the pacific </a:t>
            </a:r>
          </a:p>
        </p:txBody>
      </p:sp>
      <p:sp>
        <p:nvSpPr>
          <p:cNvPr id="3" name="Content Placeholder 2">
            <a:extLst>
              <a:ext uri="{FF2B5EF4-FFF2-40B4-BE49-F238E27FC236}">
                <a16:creationId xmlns:a16="http://schemas.microsoft.com/office/drawing/2014/main" id="{1F6E0A3D-B02D-9917-11BF-F7FC36404AF9}"/>
              </a:ext>
            </a:extLst>
          </p:cNvPr>
          <p:cNvSpPr>
            <a:spLocks noGrp="1"/>
          </p:cNvSpPr>
          <p:nvPr>
            <p:ph idx="1"/>
          </p:nvPr>
        </p:nvSpPr>
        <p:spPr/>
        <p:txBody>
          <a:bodyPr>
            <a:normAutofit fontScale="25000" lnSpcReduction="20000"/>
          </a:bodyPr>
          <a:lstStyle/>
          <a:p>
            <a:r>
              <a:rPr lang="en-US" b="1" dirty="0"/>
              <a:t>Client</a:t>
            </a:r>
          </a:p>
          <a:p>
            <a:r>
              <a:rPr lang="en-US" dirty="0"/>
              <a:t>General Organization for Social Insurance (GOSI), in collaboration with International Social Security Association.</a:t>
            </a:r>
          </a:p>
          <a:p>
            <a:r>
              <a:rPr lang="en-US" b="1" dirty="0"/>
              <a:t>Event Sensitivity</a:t>
            </a:r>
          </a:p>
          <a:p>
            <a:r>
              <a:rPr lang="en-US" dirty="0"/>
              <a:t>A high-level international forum bringing together senior government officials, social security leaders, policymakers, international organizations, and institutional representatives from across Asia and the Pacific. The event required strict attendee management, protocol coordination, secure handling of delegate information, and close collaboration between multiple international stakeholders.</a:t>
            </a:r>
          </a:p>
          <a:p>
            <a:r>
              <a:rPr lang="en-US" b="1" dirty="0"/>
              <a:t>My Role</a:t>
            </a:r>
          </a:p>
          <a:p>
            <a:r>
              <a:rPr lang="en-US" b="1" dirty="0"/>
              <a:t>Website, Registration, Audience Management &amp; Delegate Operations Lead</a:t>
            </a:r>
            <a:endParaRPr lang="en-US" dirty="0"/>
          </a:p>
          <a:p>
            <a:r>
              <a:rPr lang="en-US" dirty="0"/>
              <a:t>I was responsible for overseeing the event's digital ecosystem and attendee management operations, ensuring a seamless experience for delegates from registration through arrival, participation, and departure.</a:t>
            </a:r>
          </a:p>
          <a:p>
            <a:r>
              <a:rPr lang="en-US" dirty="0"/>
              <a:t>My responsibilities included:</a:t>
            </a:r>
          </a:p>
          <a:p>
            <a:r>
              <a:rPr lang="en-US" dirty="0"/>
              <a:t>Leading the development and management of the official event website and registration platform. </a:t>
            </a:r>
          </a:p>
          <a:p>
            <a:r>
              <a:rPr lang="en-US" dirty="0"/>
              <a:t>Designing and managing the end-to-end registration process for delegates, speakers, VIPs, government representatives, international organizations, media, and accompanying guests. </a:t>
            </a:r>
          </a:p>
          <a:p>
            <a:r>
              <a:rPr lang="en-US" dirty="0"/>
              <a:t>Managing attendee databases, registration validation, reporting dashboards, and operational analytics to support decision-making throughout the project lifecycle. </a:t>
            </a:r>
          </a:p>
          <a:p>
            <a:r>
              <a:rPr lang="en-US" dirty="0"/>
              <a:t>Working closely with logistics, protocol, transportation, accommodation, and operations teams to ensure accurate management of travel details, hotel allocations, airport transfers, and delegate movements. </a:t>
            </a:r>
          </a:p>
          <a:p>
            <a:r>
              <a:rPr lang="en-US" dirty="0"/>
              <a:t>Overseeing audience segmentation, attendee categories, access permissions, and accreditation processes across all event areas. </a:t>
            </a:r>
          </a:p>
          <a:p>
            <a:r>
              <a:rPr lang="en-US" dirty="0"/>
              <a:t>Coordinating with security and protocol teams to ensure controlled access, smooth delegate movement, and compliance with high-level event requirements. </a:t>
            </a:r>
          </a:p>
          <a:p>
            <a:r>
              <a:rPr lang="en-US" dirty="0"/>
              <a:t>Leading crowd management planning and attendee flow strategies across registration areas, conference halls, networking spaces, and VIP zones. </a:t>
            </a:r>
          </a:p>
          <a:p>
            <a:r>
              <a:rPr lang="en-US" dirty="0"/>
              <a:t>Monitoring attendee behavior, participation levels, and operational performance through data analysis and reporting. </a:t>
            </a:r>
          </a:p>
          <a:p>
            <a:r>
              <a:rPr lang="en-US" dirty="0"/>
              <a:t>Acting as the central link between the digital, registration, logistics, protocol, and operational workstreams to ensure all attendee information remained accurate and synchronized across systems. </a:t>
            </a:r>
          </a:p>
          <a:p>
            <a:r>
              <a:rPr lang="en-US" dirty="0"/>
              <a:t>Overseeing content and copywriting related to the website, registration journey, attendee communications, and event information to ensure consistency, clarity, and alignment with stakeholder expectations. </a:t>
            </a:r>
          </a:p>
          <a:p>
            <a:r>
              <a:rPr lang="en-US" dirty="0"/>
              <a:t>This role required a combination of digital platform management, delegate operations, data governance, audience management, protocol coordination, and stakeholder engagement to successfully deliver a large-scale international forum involving participants from multiple countries and institutions across the Asia-Pacific region.</a:t>
            </a:r>
          </a:p>
          <a:p>
            <a:endParaRPr lang="en-US" dirty="0"/>
          </a:p>
        </p:txBody>
      </p:sp>
    </p:spTree>
    <p:extLst>
      <p:ext uri="{BB962C8B-B14F-4D97-AF65-F5344CB8AC3E}">
        <p14:creationId xmlns:p14="http://schemas.microsoft.com/office/powerpoint/2010/main" val="2073618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399A-657B-3C88-D401-B5142F32703E}"/>
              </a:ext>
            </a:extLst>
          </p:cNvPr>
          <p:cNvSpPr>
            <a:spLocks noGrp="1"/>
          </p:cNvSpPr>
          <p:nvPr>
            <p:ph type="title"/>
          </p:nvPr>
        </p:nvSpPr>
        <p:spPr/>
        <p:txBody>
          <a:bodyPr/>
          <a:lstStyle/>
          <a:p>
            <a:r>
              <a:rPr lang="en-US" dirty="0"/>
              <a:t>Saudi Arab African Economic Conference </a:t>
            </a:r>
          </a:p>
        </p:txBody>
      </p:sp>
      <p:sp>
        <p:nvSpPr>
          <p:cNvPr id="3" name="Content Placeholder 2">
            <a:extLst>
              <a:ext uri="{FF2B5EF4-FFF2-40B4-BE49-F238E27FC236}">
                <a16:creationId xmlns:a16="http://schemas.microsoft.com/office/drawing/2014/main" id="{47768F76-DECC-831A-8860-0374B8030F9D}"/>
              </a:ext>
            </a:extLst>
          </p:cNvPr>
          <p:cNvSpPr>
            <a:spLocks noGrp="1"/>
          </p:cNvSpPr>
          <p:nvPr>
            <p:ph idx="1"/>
          </p:nvPr>
        </p:nvSpPr>
        <p:spPr/>
        <p:txBody>
          <a:bodyPr>
            <a:noAutofit/>
          </a:bodyPr>
          <a:lstStyle/>
          <a:p>
            <a:r>
              <a:rPr lang="en-US" sz="400" b="1" dirty="0"/>
              <a:t>Client</a:t>
            </a:r>
          </a:p>
          <a:p>
            <a:r>
              <a:rPr lang="en-US" sz="400" dirty="0"/>
              <a:t>Ministry of Finance</a:t>
            </a:r>
          </a:p>
          <a:p>
            <a:r>
              <a:rPr lang="en-US" sz="400" b="1" dirty="0"/>
              <a:t>Event Sensitivity</a:t>
            </a:r>
          </a:p>
          <a:p>
            <a:r>
              <a:rPr lang="en-US" sz="400" dirty="0"/>
              <a:t>A highly strategic international conference bringing together ministers, government officials, business leaders, investors, diplomats, and representatives from numerous African and Arab nations to strengthen economic cooperation and investment partnerships.</a:t>
            </a:r>
          </a:p>
          <a:p>
            <a:r>
              <a:rPr lang="en-US" sz="400" dirty="0"/>
              <a:t>The event was delivered during an exceptionally challenging period, coinciding with the outbreak of the Israel–Gaza conflict in October 2023. The rapidly evolving geopolitical situation created significant operational and logistical challenges, including travel disruptions, last-minute attendee changes, heightened security considerations, protocol adjustments, and continuous contingency planning. The ability to adapt quickly while maintaining the quality and integrity of the event was critical to its success.</a:t>
            </a:r>
          </a:p>
          <a:p>
            <a:r>
              <a:rPr lang="en-US" sz="400" b="1" dirty="0"/>
              <a:t>My Role</a:t>
            </a:r>
          </a:p>
          <a:p>
            <a:r>
              <a:rPr lang="en-US" sz="400" b="1" dirty="0"/>
              <a:t>Website, Registration, Audience Management &amp; Delegate Operations Lead</a:t>
            </a:r>
            <a:endParaRPr lang="en-US" sz="400" dirty="0"/>
          </a:p>
          <a:p>
            <a:r>
              <a:rPr lang="en-US" sz="400" dirty="0"/>
              <a:t>I was responsible for managing the event's digital ecosystem and attendee operations, ensuring seamless coordination between registration, logistics, protocol, security, and on-site audience management functions.</a:t>
            </a:r>
          </a:p>
          <a:p>
            <a:r>
              <a:rPr lang="en-US" sz="400" dirty="0"/>
              <a:t>My responsibilities included:</a:t>
            </a:r>
          </a:p>
          <a:p>
            <a:r>
              <a:rPr lang="en-US" sz="400" dirty="0"/>
              <a:t>Leading the development and management of the official event website and registration platform. </a:t>
            </a:r>
          </a:p>
          <a:p>
            <a:r>
              <a:rPr lang="en-US" sz="400" dirty="0"/>
              <a:t>Managing registration and accreditation processes for ministers, government officials, VIPs, delegates, speakers, media representatives, investors, and international guests. </a:t>
            </a:r>
          </a:p>
          <a:p>
            <a:r>
              <a:rPr lang="en-US" sz="400" dirty="0"/>
              <a:t>Overseeing attendee data management, reporting, analytics, and operational dashboards to support decision-making throughout the event lifecycle. </a:t>
            </a:r>
          </a:p>
          <a:p>
            <a:r>
              <a:rPr lang="en-US" sz="400" dirty="0"/>
              <a:t>Working closely with logistics, transportation, accommodation, protocol, and operations teams to ensure delegates were correctly allocated to flights, hotels, transfers, and event activities. </a:t>
            </a:r>
          </a:p>
          <a:p>
            <a:r>
              <a:rPr lang="en-US" sz="400" dirty="0"/>
              <a:t>Managing audience segmentation, attendee categories, access levels, and accreditation requirements across multiple stakeholder groups. </a:t>
            </a:r>
          </a:p>
          <a:p>
            <a:r>
              <a:rPr lang="en-US" sz="400" dirty="0"/>
              <a:t>Coordinating with protocol and security teams to ensure controlled access and smooth movement of high-profile attendees throughout the venue. </a:t>
            </a:r>
          </a:p>
          <a:p>
            <a:r>
              <a:rPr lang="en-US" sz="400" dirty="0"/>
              <a:t>Leading crowd management planning and attendee flow strategies across registration areas, conference spaces, VIP zones, and networking areas. </a:t>
            </a:r>
          </a:p>
          <a:p>
            <a:r>
              <a:rPr lang="en-US" sz="400" dirty="0"/>
              <a:t>Supporting crisis-response and contingency planning during the rapidly changing geopolitical environment, adapting attendee management processes and operational plans to accommodate travel changes, cancellations, revised delegations, and evolving security requirements. </a:t>
            </a:r>
          </a:p>
          <a:p>
            <a:r>
              <a:rPr lang="en-US" sz="400" dirty="0"/>
              <a:t>Monitoring attendance trends, participation levels, and operational performance through continuous data analysis and reporting. </a:t>
            </a:r>
          </a:p>
          <a:p>
            <a:r>
              <a:rPr lang="en-US" sz="400" dirty="0"/>
              <a:t>Acting as a key liaison between digital, registration, logistics, protocol, and operational teams to ensure accurate and synchronized attendee information across all systems. </a:t>
            </a:r>
          </a:p>
          <a:p>
            <a:r>
              <a:rPr lang="en-US" sz="400" dirty="0"/>
              <a:t>Overseeing website content, registration communications, and attendee-facing information to ensure consistency, accuracy, and timely updates. </a:t>
            </a:r>
          </a:p>
          <a:p>
            <a:r>
              <a:rPr lang="en-US" sz="400" dirty="0"/>
              <a:t>This project required a high level of operational agility, stakeholder coordination, and risk management, as the team successfully delivered a major international conference while navigating one of the most uncertain geopolitical periods affecting international travel and diplomatic engagement in recent years.</a:t>
            </a:r>
          </a:p>
          <a:p>
            <a:endParaRPr lang="en-US" sz="400" dirty="0"/>
          </a:p>
        </p:txBody>
      </p:sp>
    </p:spTree>
    <p:extLst>
      <p:ext uri="{BB962C8B-B14F-4D97-AF65-F5344CB8AC3E}">
        <p14:creationId xmlns:p14="http://schemas.microsoft.com/office/powerpoint/2010/main" val="2894768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DE591-F8EF-3DCD-10F5-44B3CF694883}"/>
              </a:ext>
            </a:extLst>
          </p:cNvPr>
          <p:cNvSpPr>
            <a:spLocks noGrp="1"/>
          </p:cNvSpPr>
          <p:nvPr>
            <p:ph type="title"/>
          </p:nvPr>
        </p:nvSpPr>
        <p:spPr/>
        <p:txBody>
          <a:bodyPr/>
          <a:lstStyle/>
          <a:p>
            <a:r>
              <a:rPr lang="en-US" dirty="0"/>
              <a:t>Capital Market Institutions Forum 2023</a:t>
            </a:r>
          </a:p>
        </p:txBody>
      </p:sp>
      <p:sp>
        <p:nvSpPr>
          <p:cNvPr id="3" name="Content Placeholder 2">
            <a:extLst>
              <a:ext uri="{FF2B5EF4-FFF2-40B4-BE49-F238E27FC236}">
                <a16:creationId xmlns:a16="http://schemas.microsoft.com/office/drawing/2014/main" id="{E8043701-E149-32FA-17AD-599364FB89B6}"/>
              </a:ext>
            </a:extLst>
          </p:cNvPr>
          <p:cNvSpPr>
            <a:spLocks noGrp="1"/>
          </p:cNvSpPr>
          <p:nvPr>
            <p:ph idx="1"/>
          </p:nvPr>
        </p:nvSpPr>
        <p:spPr/>
        <p:txBody>
          <a:bodyPr>
            <a:normAutofit fontScale="25000" lnSpcReduction="20000"/>
          </a:bodyPr>
          <a:lstStyle/>
          <a:p>
            <a:r>
              <a:rPr lang="en-US" b="1" dirty="0"/>
              <a:t>Client</a:t>
            </a:r>
          </a:p>
          <a:p>
            <a:r>
              <a:rPr lang="en-US" dirty="0"/>
              <a:t>Capital Market Authority </a:t>
            </a:r>
          </a:p>
          <a:p>
            <a:r>
              <a:rPr lang="en-US" b="1" dirty="0"/>
              <a:t>Event Significance</a:t>
            </a:r>
          </a:p>
          <a:p>
            <a:r>
              <a:rPr lang="en-US" dirty="0"/>
              <a:t>The Capital Market Institutions Forum was a high-profile industry gathering that brought together senior executives, regulators, financial institutions, investment firms, asset managers, market participants, and key decision-makers from across the capital markets ecosystem. The forum served as a strategic platform for industry dialogue, collaboration, knowledge exchange, and discussions surrounding the future of financial markets and investment in the Kingdom.</a:t>
            </a:r>
          </a:p>
          <a:p>
            <a:r>
              <a:rPr lang="en-US" b="1" dirty="0"/>
              <a:t>My Role</a:t>
            </a:r>
          </a:p>
          <a:p>
            <a:r>
              <a:rPr lang="en-US" b="1" dirty="0"/>
              <a:t>Project Manager &amp; Overall Event Lead</a:t>
            </a:r>
            <a:endParaRPr lang="en-US" dirty="0"/>
          </a:p>
          <a:p>
            <a:r>
              <a:rPr lang="en-US" dirty="0"/>
              <a:t>I served as the Project Manager with overall responsibility for the successful planning, management, and execution of the forum, overseeing all operational, strategic, commercial, technical, and stakeholder-management aspects of the project.</a:t>
            </a:r>
          </a:p>
          <a:p>
            <a:r>
              <a:rPr lang="en-US" dirty="0"/>
              <a:t>My responsibilities included:</a:t>
            </a:r>
          </a:p>
          <a:p>
            <a:r>
              <a:rPr lang="en-US" dirty="0"/>
              <a:t>Leading the project from initial concept development through planning, execution, and final delivery. </a:t>
            </a:r>
          </a:p>
          <a:p>
            <a:r>
              <a:rPr lang="en-US" dirty="0"/>
              <a:t>Acting as the primary point of contact and strategic advisor for the client, managing executive-level stakeholder relationships and ensuring alignment with project objectives. </a:t>
            </a:r>
          </a:p>
          <a:p>
            <a:r>
              <a:rPr lang="en-US" dirty="0"/>
              <a:t>Directing and coordinating multidisciplinary teams across operations, production, logistics, registration, technology, protocol, content, design, hospitality, security, and venue management. </a:t>
            </a:r>
          </a:p>
          <a:p>
            <a:r>
              <a:rPr lang="en-US" dirty="0"/>
              <a:t>Developing and overseeing the master project plan, timelines, budgets, risk management strategies, and resource allocation. </a:t>
            </a:r>
          </a:p>
          <a:p>
            <a:r>
              <a:rPr lang="en-US" dirty="0"/>
              <a:t>Managing project governance, internal reporting structures, and cross-functional communication to ensure seamless collaboration between all workstreams. </a:t>
            </a:r>
          </a:p>
          <a:p>
            <a:r>
              <a:rPr lang="en-US" dirty="0"/>
              <a:t>Supervising the development and implementation of the event's registration and audience management framework, ensuring a smooth attendee experience from invitation through departure. </a:t>
            </a:r>
          </a:p>
          <a:p>
            <a:r>
              <a:rPr lang="en-US" dirty="0"/>
              <a:t>Overseeing VIP management, protocol requirements, executive hospitality, and stakeholder engagement strategies. </a:t>
            </a:r>
          </a:p>
          <a:p>
            <a:r>
              <a:rPr lang="en-US" dirty="0"/>
              <a:t>Leading venue operations, production planning, technical execution, and show management to ensure the highest standards of event delivery. </a:t>
            </a:r>
          </a:p>
          <a:p>
            <a:r>
              <a:rPr lang="en-US" dirty="0"/>
              <a:t>Driving decision-making across all project areas, resolving operational challenges, mitigating risks, and ensuring milestones were achieved within schedule and budget. </a:t>
            </a:r>
          </a:p>
          <a:p>
            <a:r>
              <a:rPr lang="en-US" dirty="0"/>
              <a:t>Managing suppliers, contractors, and partner agencies while ensuring quality control across all deliverables. </a:t>
            </a:r>
          </a:p>
          <a:p>
            <a:r>
              <a:rPr lang="en-US" dirty="0"/>
              <a:t>Overseeing content development, agenda coordination, speaker management, branding implementation, and attendee communications. </a:t>
            </a:r>
          </a:p>
          <a:p>
            <a:r>
              <a:rPr lang="en-US" dirty="0"/>
              <a:t>Ensuring compliance with security, access control, health and safety, and operational excellence standards throughout the event. </a:t>
            </a:r>
          </a:p>
          <a:p>
            <a:r>
              <a:rPr lang="en-US" dirty="0"/>
              <a:t>Providing on-site leadership during execution, managing command-center operations and coordinating all teams to ensure a flawless participant experience. </a:t>
            </a:r>
          </a:p>
          <a:p>
            <a:r>
              <a:rPr lang="en-US" dirty="0"/>
              <a:t>As Project Manager, I held overall accountability for the event's success, leading a large multidisciplinary team and multiple vendors while maintaining direct oversight of strategy, operations, client management, and execution. The role required executive leadership, commercial awareness, stakeholder management, crisis resolution, and the ability to coordinate complex event ecosystems under demanding timelines and high-profile expectations.</a:t>
            </a:r>
          </a:p>
          <a:p>
            <a:endParaRPr lang="en-US" dirty="0"/>
          </a:p>
        </p:txBody>
      </p:sp>
    </p:spTree>
    <p:extLst>
      <p:ext uri="{BB962C8B-B14F-4D97-AF65-F5344CB8AC3E}">
        <p14:creationId xmlns:p14="http://schemas.microsoft.com/office/powerpoint/2010/main" val="550098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FB1E2-CDD4-F72D-6EE5-67C075C1D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5C5B8-5C21-12D2-3FF7-3EE3CEAE03ED}"/>
              </a:ext>
            </a:extLst>
          </p:cNvPr>
          <p:cNvSpPr>
            <a:spLocks noGrp="1"/>
          </p:cNvSpPr>
          <p:nvPr>
            <p:ph type="title"/>
          </p:nvPr>
        </p:nvSpPr>
        <p:spPr/>
        <p:txBody>
          <a:bodyPr/>
          <a:lstStyle/>
          <a:p>
            <a:r>
              <a:rPr lang="en-US" dirty="0"/>
              <a:t>Capital Market Institutions Forum 2021</a:t>
            </a:r>
          </a:p>
        </p:txBody>
      </p:sp>
      <p:sp>
        <p:nvSpPr>
          <p:cNvPr id="3" name="Content Placeholder 2">
            <a:extLst>
              <a:ext uri="{FF2B5EF4-FFF2-40B4-BE49-F238E27FC236}">
                <a16:creationId xmlns:a16="http://schemas.microsoft.com/office/drawing/2014/main" id="{36E25B97-B96D-78BA-A12E-FB02D9BB8830}"/>
              </a:ext>
            </a:extLst>
          </p:cNvPr>
          <p:cNvSpPr>
            <a:spLocks noGrp="1"/>
          </p:cNvSpPr>
          <p:nvPr>
            <p:ph idx="1"/>
          </p:nvPr>
        </p:nvSpPr>
        <p:spPr/>
        <p:txBody>
          <a:bodyPr>
            <a:normAutofit fontScale="25000" lnSpcReduction="20000"/>
          </a:bodyPr>
          <a:lstStyle/>
          <a:p>
            <a:r>
              <a:rPr lang="en-US" b="1" dirty="0"/>
              <a:t>Client</a:t>
            </a:r>
          </a:p>
          <a:p>
            <a:r>
              <a:rPr lang="en-US" dirty="0"/>
              <a:t>Capital Market Authority </a:t>
            </a:r>
          </a:p>
          <a:p>
            <a:r>
              <a:rPr lang="en-US" b="1" dirty="0"/>
              <a:t>Event Significance</a:t>
            </a:r>
          </a:p>
          <a:p>
            <a:r>
              <a:rPr lang="en-US" dirty="0"/>
              <a:t>The Capital Market Institutions Forum was a high-profile industry gathering that brought together senior executives, regulators, financial institutions, investment firms, asset managers, market participants, and key decision-makers from across the capital markets ecosystem. The forum served as a strategic platform for industry dialogue, collaboration, knowledge exchange, and discussions surrounding the future of financial markets and investment in the Kingdom.</a:t>
            </a:r>
          </a:p>
          <a:p>
            <a:r>
              <a:rPr lang="en-US" b="1" dirty="0"/>
              <a:t>My Role</a:t>
            </a:r>
          </a:p>
          <a:p>
            <a:r>
              <a:rPr lang="en-US" b="1" dirty="0"/>
              <a:t>Project Manager &amp; Overall Event Lead</a:t>
            </a:r>
            <a:endParaRPr lang="en-US" dirty="0"/>
          </a:p>
          <a:p>
            <a:r>
              <a:rPr lang="en-US" dirty="0"/>
              <a:t>I served as the Project Manager with overall responsibility for the successful planning, management, and execution of the forum, overseeing all operational, strategic, commercial, technical, and stakeholder-management aspects of the project.</a:t>
            </a:r>
          </a:p>
          <a:p>
            <a:r>
              <a:rPr lang="en-US" dirty="0"/>
              <a:t>My responsibilities included:</a:t>
            </a:r>
          </a:p>
          <a:p>
            <a:r>
              <a:rPr lang="en-US" dirty="0"/>
              <a:t>Leading the project from initial concept development through planning, execution, and final delivery. </a:t>
            </a:r>
          </a:p>
          <a:p>
            <a:r>
              <a:rPr lang="en-US" dirty="0"/>
              <a:t>Acting as the primary point of contact and strategic advisor for the client, managing executive-level stakeholder relationships and ensuring alignment with project objectives. </a:t>
            </a:r>
          </a:p>
          <a:p>
            <a:r>
              <a:rPr lang="en-US" dirty="0"/>
              <a:t>Directing and coordinating multidisciplinary teams across operations, production, logistics, registration, technology, protocol, content, design, hospitality, security, and venue management. </a:t>
            </a:r>
          </a:p>
          <a:p>
            <a:r>
              <a:rPr lang="en-US" dirty="0"/>
              <a:t>Developing and overseeing the master project plan, timelines, budgets, risk management strategies, and resource allocation. </a:t>
            </a:r>
          </a:p>
          <a:p>
            <a:r>
              <a:rPr lang="en-US" dirty="0"/>
              <a:t>Managing project governance, internal reporting structures, and cross-functional communication to ensure seamless collaboration between all workstreams. </a:t>
            </a:r>
          </a:p>
          <a:p>
            <a:r>
              <a:rPr lang="en-US" dirty="0"/>
              <a:t>Supervising the development and implementation of the event's registration and audience management framework, ensuring a smooth attendee experience from invitation through departure. </a:t>
            </a:r>
          </a:p>
          <a:p>
            <a:r>
              <a:rPr lang="en-US" dirty="0"/>
              <a:t>Overseeing VIP management, protocol requirements, executive hospitality, and stakeholder engagement strategies. </a:t>
            </a:r>
          </a:p>
          <a:p>
            <a:r>
              <a:rPr lang="en-US" dirty="0"/>
              <a:t>Leading venue operations, production planning, technical execution, and show management to ensure the highest standards of event delivery. </a:t>
            </a:r>
          </a:p>
          <a:p>
            <a:r>
              <a:rPr lang="en-US" dirty="0"/>
              <a:t>Driving decision-making across all project areas, resolving operational challenges, mitigating risks, and ensuring milestones were achieved within schedule and budget. </a:t>
            </a:r>
          </a:p>
          <a:p>
            <a:r>
              <a:rPr lang="en-US" dirty="0"/>
              <a:t>Managing suppliers, contractors, and partner agencies while ensuring quality control across all deliverables. </a:t>
            </a:r>
          </a:p>
          <a:p>
            <a:r>
              <a:rPr lang="en-US" dirty="0"/>
              <a:t>Overseeing content development, agenda coordination, speaker management, branding implementation, and attendee communications. </a:t>
            </a:r>
          </a:p>
          <a:p>
            <a:r>
              <a:rPr lang="en-US" dirty="0"/>
              <a:t>Ensuring compliance with security, access control, health and safety, and operational excellence standards throughout the event. </a:t>
            </a:r>
          </a:p>
          <a:p>
            <a:r>
              <a:rPr lang="en-US" dirty="0"/>
              <a:t>Providing on-site leadership during execution, managing command-center operations and coordinating all teams to ensure a flawless participant experience. </a:t>
            </a:r>
          </a:p>
          <a:p>
            <a:r>
              <a:rPr lang="en-US" dirty="0"/>
              <a:t>As Project Manager, I held overall accountability for the event's success, leading a large multidisciplinary team and multiple vendors while maintaining direct oversight of strategy, operations, client management, and execution. The role required executive leadership, commercial awareness, stakeholder management, crisis resolution, and the ability to coordinate complex event ecosystems under demanding timelines and high-profile expectations.</a:t>
            </a:r>
          </a:p>
          <a:p>
            <a:endParaRPr lang="en-US" dirty="0"/>
          </a:p>
        </p:txBody>
      </p:sp>
    </p:spTree>
    <p:extLst>
      <p:ext uri="{BB962C8B-B14F-4D97-AF65-F5344CB8AC3E}">
        <p14:creationId xmlns:p14="http://schemas.microsoft.com/office/powerpoint/2010/main" val="659762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FD00B-69B7-5B12-DFE5-5AAC63DD9F98}"/>
              </a:ext>
            </a:extLst>
          </p:cNvPr>
          <p:cNvSpPr>
            <a:spLocks noGrp="1"/>
          </p:cNvSpPr>
          <p:nvPr>
            <p:ph type="title"/>
          </p:nvPr>
        </p:nvSpPr>
        <p:spPr/>
        <p:txBody>
          <a:bodyPr/>
          <a:lstStyle/>
          <a:p>
            <a:r>
              <a:rPr lang="en-US" dirty="0"/>
              <a:t>Souq Al Dar 2025</a:t>
            </a:r>
          </a:p>
        </p:txBody>
      </p:sp>
      <p:sp>
        <p:nvSpPr>
          <p:cNvPr id="3" name="Content Placeholder 2">
            <a:extLst>
              <a:ext uri="{FF2B5EF4-FFF2-40B4-BE49-F238E27FC236}">
                <a16:creationId xmlns:a16="http://schemas.microsoft.com/office/drawing/2014/main" id="{3922E66A-22AB-9F15-5683-74CAA38399F4}"/>
              </a:ext>
            </a:extLst>
          </p:cNvPr>
          <p:cNvSpPr>
            <a:spLocks noGrp="1"/>
          </p:cNvSpPr>
          <p:nvPr>
            <p:ph idx="1"/>
          </p:nvPr>
        </p:nvSpPr>
        <p:spPr/>
        <p:txBody>
          <a:bodyPr>
            <a:normAutofit fontScale="25000" lnSpcReduction="20000"/>
          </a:bodyPr>
          <a:lstStyle/>
          <a:p>
            <a:r>
              <a:rPr lang="en-US" b="1" dirty="0"/>
              <a:t>Client</a:t>
            </a:r>
          </a:p>
          <a:p>
            <a:r>
              <a:rPr lang="en-US" dirty="0"/>
              <a:t>Social Development Bank</a:t>
            </a:r>
          </a:p>
          <a:p>
            <a:r>
              <a:rPr lang="en-US" b="1" dirty="0"/>
              <a:t>Event Overview</a:t>
            </a:r>
          </a:p>
          <a:p>
            <a:r>
              <a:rPr lang="en-US" dirty="0"/>
              <a:t>Souq Al Dar is a large-scale exhibition and marketplace designed to support productive families, entrepreneurs, small businesses, and local artisans by providing them with a platform to showcase and sell their products. The event brings together hundreds of exhibitors from different sectors and requires extensive planning, participant management, operational coordination, and exhibition strategy to ensure a successful visitor and exhibitor experience.</a:t>
            </a:r>
          </a:p>
          <a:p>
            <a:r>
              <a:rPr lang="en-US" b="1" dirty="0"/>
              <a:t>My Role</a:t>
            </a:r>
          </a:p>
          <a:p>
            <a:r>
              <a:rPr lang="en-US" b="1" dirty="0"/>
              <a:t>Exhibition &amp; Exhibitor Management Lead</a:t>
            </a:r>
            <a:endParaRPr lang="en-US" dirty="0"/>
          </a:p>
          <a:p>
            <a:r>
              <a:rPr lang="en-US" dirty="0"/>
              <a:t>I held full responsibility for the exhibition component of the event, overseeing the complete exhibitor lifecycle from selection and onboarding through on-site operations and event delivery.</a:t>
            </a:r>
          </a:p>
          <a:p>
            <a:r>
              <a:rPr lang="en-US" dirty="0"/>
              <a:t>My responsibilities included:</a:t>
            </a:r>
          </a:p>
          <a:p>
            <a:r>
              <a:rPr lang="en-US" dirty="0"/>
              <a:t>Leading the overall exhibition strategy, planning, and execution. </a:t>
            </a:r>
          </a:p>
          <a:p>
            <a:r>
              <a:rPr lang="en-US" dirty="0"/>
              <a:t>Managing the recruitment, evaluation, qualification, and selection process of participating exhibitors. </a:t>
            </a:r>
          </a:p>
          <a:p>
            <a:r>
              <a:rPr lang="en-US" dirty="0"/>
              <a:t>Overseeing exhibitor registration and accreditation processes. </a:t>
            </a:r>
          </a:p>
          <a:p>
            <a:r>
              <a:rPr lang="en-US" dirty="0"/>
              <a:t>Managing all exhibitor communications, coordination, and stakeholder engagement throughout the project lifecycle. </a:t>
            </a:r>
          </a:p>
          <a:p>
            <a:r>
              <a:rPr lang="en-US" dirty="0"/>
              <a:t>Coordinating contractual processes, participation agreements, documentation requirements, and compliance checks. </a:t>
            </a:r>
          </a:p>
          <a:p>
            <a:r>
              <a:rPr lang="en-US" dirty="0"/>
              <a:t>Working closely with call center and outreach teams to ensure accurate communication with prospective participants and successful onboarding of approved exhibitors. </a:t>
            </a:r>
          </a:p>
          <a:p>
            <a:r>
              <a:rPr lang="en-US" dirty="0"/>
              <a:t>Developing exhibitor allocation strategies and planning the exhibition layout to ensure an optimal distribution of participants across the venue. </a:t>
            </a:r>
          </a:p>
          <a:p>
            <a:r>
              <a:rPr lang="en-US" dirty="0"/>
              <a:t>Managing booth assignments and zoning plans based on categories, visitor flow, exhibitor needs, and operational requirements. </a:t>
            </a:r>
          </a:p>
          <a:p>
            <a:r>
              <a:rPr lang="en-US" dirty="0"/>
              <a:t>Coordinating with operations, production, logistics, and venue teams to ensure exhibitors received the necessary support before and during the event. </a:t>
            </a:r>
          </a:p>
          <a:p>
            <a:r>
              <a:rPr lang="en-US" dirty="0"/>
              <a:t>Monitoring exhibitor readiness, attendance, setup schedules, and operational compliance. </a:t>
            </a:r>
          </a:p>
          <a:p>
            <a:r>
              <a:rPr lang="en-US" dirty="0"/>
              <a:t>Acting as the primary point of contact for exhibitors, resolving issues, managing expectations, and ensuring a positive participant experience. </a:t>
            </a:r>
          </a:p>
          <a:p>
            <a:r>
              <a:rPr lang="en-US" dirty="0"/>
              <a:t>Analyzing exhibitor data and participation metrics to support planning, reporting, and decision-making. </a:t>
            </a:r>
          </a:p>
          <a:p>
            <a:r>
              <a:rPr lang="en-US" dirty="0"/>
              <a:t>Overseeing on-site exhibitor operations during event delivery, ensuring smooth setup, participation, and breakdown processes. </a:t>
            </a:r>
          </a:p>
          <a:p>
            <a:r>
              <a:rPr lang="en-US" dirty="0"/>
              <a:t>As the Exhibition &amp; Exhibitor Management Lead, I was accountable for one of the most critical components of the event: the successful participation of all exhibitors. From initial selection and contracting to floorplan development, booth allocation, communication, and on-site management, I ensured that every aspect of the exhibitor journey was professionally managed and aligned with the event's objectives. This role required strong stakeholder management, operational planning, negotiation, communication, and large-scale exhibition management expertise.</a:t>
            </a:r>
          </a:p>
          <a:p>
            <a:endParaRPr lang="en-US" dirty="0"/>
          </a:p>
        </p:txBody>
      </p:sp>
    </p:spTree>
    <p:extLst>
      <p:ext uri="{BB962C8B-B14F-4D97-AF65-F5344CB8AC3E}">
        <p14:creationId xmlns:p14="http://schemas.microsoft.com/office/powerpoint/2010/main" val="688129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EC30A-084A-9A1A-C5E3-9C5E8A07F256}"/>
              </a:ext>
            </a:extLst>
          </p:cNvPr>
          <p:cNvSpPr>
            <a:spLocks noGrp="1"/>
          </p:cNvSpPr>
          <p:nvPr>
            <p:ph type="title"/>
          </p:nvPr>
        </p:nvSpPr>
        <p:spPr/>
        <p:txBody>
          <a:bodyPr/>
          <a:lstStyle/>
          <a:p>
            <a:r>
              <a:rPr lang="en-US" dirty="0"/>
              <a:t>THIQAH 10 years Celebration </a:t>
            </a:r>
          </a:p>
        </p:txBody>
      </p:sp>
      <p:sp>
        <p:nvSpPr>
          <p:cNvPr id="3" name="Content Placeholder 2">
            <a:extLst>
              <a:ext uri="{FF2B5EF4-FFF2-40B4-BE49-F238E27FC236}">
                <a16:creationId xmlns:a16="http://schemas.microsoft.com/office/drawing/2014/main" id="{0F671C6D-06D9-F0C9-281C-72AA8668D634}"/>
              </a:ext>
            </a:extLst>
          </p:cNvPr>
          <p:cNvSpPr>
            <a:spLocks noGrp="1"/>
          </p:cNvSpPr>
          <p:nvPr>
            <p:ph idx="1"/>
          </p:nvPr>
        </p:nvSpPr>
        <p:spPr/>
        <p:txBody>
          <a:bodyPr>
            <a:normAutofit fontScale="25000" lnSpcReduction="20000"/>
          </a:bodyPr>
          <a:lstStyle/>
          <a:p>
            <a:r>
              <a:rPr lang="en-US" b="1" dirty="0"/>
              <a:t>Client</a:t>
            </a:r>
          </a:p>
          <a:p>
            <a:r>
              <a:rPr lang="en-US" dirty="0"/>
              <a:t>THIQAH</a:t>
            </a:r>
          </a:p>
          <a:p>
            <a:r>
              <a:rPr lang="en-US" b="1" dirty="0"/>
              <a:t>Event Overview</a:t>
            </a:r>
          </a:p>
          <a:p>
            <a:r>
              <a:rPr lang="en-US" dirty="0"/>
              <a:t>THIQAH's 10 Years Celebration was a high-profile corporate milestone event commemorating a decade of achievements, growth, and impact. The event brought together executives, employees, partners, stakeholders, and distinguished guests in a carefully curated experience featuring executive speeches, presentations, entertainment segments, multimedia content, and live stage performances.</a:t>
            </a:r>
          </a:p>
          <a:p>
            <a:r>
              <a:rPr lang="en-US" b="1" dirty="0"/>
              <a:t>My Role</a:t>
            </a:r>
          </a:p>
          <a:p>
            <a:r>
              <a:rPr lang="en-US" b="1" dirty="0"/>
              <a:t>Stage Manager</a:t>
            </a:r>
            <a:endParaRPr lang="en-US" dirty="0"/>
          </a:p>
          <a:p>
            <a:r>
              <a:rPr lang="en-US" dirty="0"/>
              <a:t>I was responsible for the complete management and operational readiness of the main stage, ensuring that all technical, content, production, and show elements were fully coordinated and executed to the highest standard.</a:t>
            </a:r>
          </a:p>
          <a:p>
            <a:r>
              <a:rPr lang="en-US" dirty="0"/>
              <a:t>My responsibilities included:</a:t>
            </a:r>
          </a:p>
          <a:p>
            <a:r>
              <a:rPr lang="en-US" dirty="0"/>
              <a:t>Managing all stage operations before, during, and after the event. </a:t>
            </a:r>
          </a:p>
          <a:p>
            <a:r>
              <a:rPr lang="en-US" dirty="0"/>
              <a:t>Coordinating the setup and readiness of all audiovisual systems, including LED screens, lighting systems, sound systems, microphones, playback systems, and presentation equipment. </a:t>
            </a:r>
          </a:p>
          <a:p>
            <a:r>
              <a:rPr lang="en-US" dirty="0"/>
              <a:t>Ensuring all stage content, presentations, videos, animations, and visual assets were prepared, tested, and executed according to the show flow. </a:t>
            </a:r>
          </a:p>
          <a:p>
            <a:r>
              <a:rPr lang="en-US" dirty="0"/>
              <a:t>Working closely with production, AV, lighting, sound, and show-calling teams to guarantee seamless execution. </a:t>
            </a:r>
          </a:p>
          <a:p>
            <a:r>
              <a:rPr lang="en-US" dirty="0"/>
              <a:t>Managing stage rehearsals and technical run-throughs for speakers, presenters, performers, and entertainment acts. </a:t>
            </a:r>
          </a:p>
          <a:p>
            <a:r>
              <a:rPr lang="en-US" dirty="0"/>
              <a:t>Coordinating all speaker movements, entrances, exits, and stage transitions. </a:t>
            </a:r>
          </a:p>
          <a:p>
            <a:r>
              <a:rPr lang="en-US" dirty="0"/>
              <a:t>Overseeing the execution of executive speeches, presentations, award segments, entertainment performances, and special show moments. </a:t>
            </a:r>
          </a:p>
          <a:p>
            <a:r>
              <a:rPr lang="en-US" dirty="0"/>
              <a:t>Monitoring live show operations and resolving technical or operational issues in real time. </a:t>
            </a:r>
          </a:p>
          <a:p>
            <a:r>
              <a:rPr lang="en-US" dirty="0"/>
              <a:t>Ensuring accurate cueing and synchronization between content, lighting, sound, video playback, and stage activities. </a:t>
            </a:r>
          </a:p>
          <a:p>
            <a:r>
              <a:rPr lang="en-US" dirty="0"/>
              <a:t>Managing backstage operations and coordinating communication between technical teams, production management, performers, and event leadership. </a:t>
            </a:r>
          </a:p>
          <a:p>
            <a:r>
              <a:rPr lang="en-US" dirty="0"/>
              <a:t>Maintaining show continuity and ensuring the event program remained on schedule. </a:t>
            </a:r>
          </a:p>
          <a:p>
            <a:r>
              <a:rPr lang="en-US" dirty="0"/>
              <a:t>As Stage Manager, I served as the operational focal point for all stage-related activities, ensuring that every presentation, speech, performance, and technical element was delivered flawlessly. The role required strong leadership, attention to detail, technical understanding of AV and production systems, live-event problem-solving, and the ability to coordinate multiple teams simultaneously under high-pressure conditions.</a:t>
            </a:r>
          </a:p>
          <a:p>
            <a:endParaRPr lang="en-US" dirty="0"/>
          </a:p>
        </p:txBody>
      </p:sp>
    </p:spTree>
    <p:extLst>
      <p:ext uri="{BB962C8B-B14F-4D97-AF65-F5344CB8AC3E}">
        <p14:creationId xmlns:p14="http://schemas.microsoft.com/office/powerpoint/2010/main" val="1690614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68501-71D5-18B8-CE1A-53E0EAA4E752}"/>
              </a:ext>
            </a:extLst>
          </p:cNvPr>
          <p:cNvSpPr>
            <a:spLocks noGrp="1"/>
          </p:cNvSpPr>
          <p:nvPr>
            <p:ph type="title"/>
          </p:nvPr>
        </p:nvSpPr>
        <p:spPr/>
        <p:txBody>
          <a:bodyPr/>
          <a:lstStyle/>
          <a:p>
            <a:r>
              <a:rPr lang="en-US" dirty="0"/>
              <a:t>MODON Annual Gathering </a:t>
            </a:r>
          </a:p>
        </p:txBody>
      </p:sp>
      <p:sp>
        <p:nvSpPr>
          <p:cNvPr id="3" name="Content Placeholder 2">
            <a:extLst>
              <a:ext uri="{FF2B5EF4-FFF2-40B4-BE49-F238E27FC236}">
                <a16:creationId xmlns:a16="http://schemas.microsoft.com/office/drawing/2014/main" id="{ECEC21B6-35E7-7663-FB68-E7B2ABECAE3C}"/>
              </a:ext>
            </a:extLst>
          </p:cNvPr>
          <p:cNvSpPr>
            <a:spLocks noGrp="1"/>
          </p:cNvSpPr>
          <p:nvPr>
            <p:ph idx="1"/>
          </p:nvPr>
        </p:nvSpPr>
        <p:spPr/>
        <p:txBody>
          <a:bodyPr>
            <a:normAutofit fontScale="25000" lnSpcReduction="20000"/>
          </a:bodyPr>
          <a:lstStyle/>
          <a:p>
            <a:r>
              <a:rPr lang="en-US" b="1" dirty="0"/>
              <a:t>Client</a:t>
            </a:r>
          </a:p>
          <a:p>
            <a:r>
              <a:rPr lang="en-US" dirty="0"/>
              <a:t>Saudi Authority for Industrial Cities and Technology Zones (MODON)</a:t>
            </a:r>
          </a:p>
          <a:p>
            <a:r>
              <a:rPr lang="en-US" b="1" dirty="0"/>
              <a:t>Event Overview</a:t>
            </a:r>
          </a:p>
          <a:p>
            <a:r>
              <a:rPr lang="en-US" dirty="0"/>
              <a:t>The MODON Annual Gathering was a large-scale corporate event bringing together leadership, employees, partners, and key stakeholders to celebrate achievements, communicate strategic objectives, recognize successes, and strengthen organizational culture. The event featured executive speeches, presentations, awards, multimedia content, entertainment segments, and live stage performances.</a:t>
            </a:r>
          </a:p>
          <a:p>
            <a:r>
              <a:rPr lang="en-US" b="1" dirty="0"/>
              <a:t>My Role</a:t>
            </a:r>
          </a:p>
          <a:p>
            <a:r>
              <a:rPr lang="en-US" b="1" dirty="0"/>
              <a:t>Stage Manager</a:t>
            </a:r>
            <a:endParaRPr lang="en-US" dirty="0"/>
          </a:p>
          <a:p>
            <a:r>
              <a:rPr lang="en-US" dirty="0"/>
              <a:t>I was responsible for managing all stage operations and ensuring the successful execution of the event program from both a technical and operational perspective. My role focused on coordinating all stage-related activities and ensuring seamless integration between content, production, speakers, and entertainment elements.</a:t>
            </a:r>
          </a:p>
          <a:p>
            <a:r>
              <a:rPr lang="en-US" dirty="0"/>
              <a:t>My responsibilities included:</a:t>
            </a:r>
          </a:p>
          <a:p>
            <a:r>
              <a:rPr lang="en-US" dirty="0"/>
              <a:t>Managing the overall stage operation throughout the event lifecycle, including preparation, rehearsals, live execution, and breakdown. </a:t>
            </a:r>
          </a:p>
          <a:p>
            <a:r>
              <a:rPr lang="en-US" dirty="0"/>
              <a:t>Coordinating all audiovisual requirements, including LED screens, sound systems, lighting systems, microphones, confidence monitors, presentation systems, and video playback. </a:t>
            </a:r>
          </a:p>
          <a:p>
            <a:r>
              <a:rPr lang="en-US" dirty="0"/>
              <a:t>Ensuring all presentations, videos, animations, graphics, and multimedia content were reviewed, tested, and executed correctly according to the show flow. </a:t>
            </a:r>
          </a:p>
          <a:p>
            <a:r>
              <a:rPr lang="en-US" dirty="0"/>
              <a:t>Leading stage rehearsals and technical run-throughs with speakers, executives, presenters, and performers. </a:t>
            </a:r>
          </a:p>
          <a:p>
            <a:r>
              <a:rPr lang="en-US" dirty="0"/>
              <a:t>Managing speaker readiness, stage movements, entrances, exits, and backstage coordination. </a:t>
            </a:r>
          </a:p>
          <a:p>
            <a:r>
              <a:rPr lang="en-US" dirty="0"/>
              <a:t>Overseeing the execution of executive addresses, award ceremonies, recognition segments, entertainment performances, and interactive activities. </a:t>
            </a:r>
          </a:p>
          <a:p>
            <a:r>
              <a:rPr lang="en-US" dirty="0"/>
              <a:t>Working closely with production managers, AV teams, lighting operators, sound engineers, content operators, and show callers to ensure flawless delivery. </a:t>
            </a:r>
          </a:p>
          <a:p>
            <a:r>
              <a:rPr lang="en-US" dirty="0"/>
              <a:t>Monitoring all live stage activities and addressing operational or technical challenges in real time. </a:t>
            </a:r>
          </a:p>
          <a:p>
            <a:r>
              <a:rPr lang="en-US" dirty="0"/>
              <a:t>Coordinating show cues and ensuring synchronization between content playback, lighting effects, sound execution, and stage transitions. </a:t>
            </a:r>
          </a:p>
          <a:p>
            <a:r>
              <a:rPr lang="en-US" dirty="0"/>
              <a:t>Managing backstage communication and maintaining alignment between all stakeholders involved in the live program. </a:t>
            </a:r>
          </a:p>
          <a:p>
            <a:r>
              <a:rPr lang="en-US" dirty="0"/>
              <a:t>Ensuring the event program remained on schedule while maintaining a high-quality audience experience. </a:t>
            </a:r>
          </a:p>
          <a:p>
            <a:r>
              <a:rPr lang="en-US" dirty="0"/>
              <a:t>As Stage Manager, I acted as the central operational coordinator for all stage-related functions, ensuring every presentation, speech, performance, and technical cue was executed accurately and professionally. The role required strong live-event leadership, technical production knowledge, stakeholder management, and the ability to operate effectively in a fast-paced, high-pressure event environment.</a:t>
            </a:r>
          </a:p>
          <a:p>
            <a:endParaRPr lang="en-US" dirty="0"/>
          </a:p>
        </p:txBody>
      </p:sp>
    </p:spTree>
    <p:extLst>
      <p:ext uri="{BB962C8B-B14F-4D97-AF65-F5344CB8AC3E}">
        <p14:creationId xmlns:p14="http://schemas.microsoft.com/office/powerpoint/2010/main" val="3779480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FF026-BE9D-D3D2-9BF4-96FDB281190C}"/>
              </a:ext>
            </a:extLst>
          </p:cNvPr>
          <p:cNvSpPr>
            <a:spLocks noGrp="1"/>
          </p:cNvSpPr>
          <p:nvPr>
            <p:ph type="title"/>
          </p:nvPr>
        </p:nvSpPr>
        <p:spPr/>
        <p:txBody>
          <a:bodyPr/>
          <a:lstStyle/>
          <a:p>
            <a:r>
              <a:rPr lang="en-US" dirty="0"/>
              <a:t>IPSASB </a:t>
            </a:r>
          </a:p>
        </p:txBody>
      </p:sp>
      <p:sp>
        <p:nvSpPr>
          <p:cNvPr id="3" name="Content Placeholder 2">
            <a:extLst>
              <a:ext uri="{FF2B5EF4-FFF2-40B4-BE49-F238E27FC236}">
                <a16:creationId xmlns:a16="http://schemas.microsoft.com/office/drawing/2014/main" id="{7633CC1E-4A7D-8C11-1A41-A270EB3205EF}"/>
              </a:ext>
            </a:extLst>
          </p:cNvPr>
          <p:cNvSpPr>
            <a:spLocks noGrp="1"/>
          </p:cNvSpPr>
          <p:nvPr>
            <p:ph idx="1"/>
          </p:nvPr>
        </p:nvSpPr>
        <p:spPr/>
        <p:txBody>
          <a:bodyPr>
            <a:normAutofit/>
          </a:bodyPr>
          <a:lstStyle/>
          <a:p>
            <a:r>
              <a:rPr lang="en-US" sz="400" b="1" dirty="0"/>
              <a:t>Client</a:t>
            </a:r>
          </a:p>
          <a:p>
            <a:r>
              <a:rPr lang="en-US" sz="400" dirty="0"/>
              <a:t>Ministry of Finance</a:t>
            </a:r>
          </a:p>
          <a:p>
            <a:r>
              <a:rPr lang="en-US" sz="400" b="1" dirty="0"/>
              <a:t>Event Overview</a:t>
            </a:r>
          </a:p>
          <a:p>
            <a:r>
              <a:rPr lang="en-US" sz="400" dirty="0"/>
              <a:t>The IPSASB Meeting was a high-level international gathering hosted by the Ministry of Finance, bringing together senior representatives, public finance experts, accounting standard-setters, government officials, and international stakeholders to discuss developments in public sector accounting standards and financial governance. The event required meticulous planning, international stakeholder coordination, protocol management, and flawless operational execution.</a:t>
            </a:r>
          </a:p>
          <a:p>
            <a:r>
              <a:rPr lang="en-US" sz="400" b="1" dirty="0"/>
              <a:t>My Role</a:t>
            </a:r>
          </a:p>
          <a:p>
            <a:r>
              <a:rPr lang="en-US" sz="400" b="1" dirty="0"/>
              <a:t>Project Manager</a:t>
            </a:r>
            <a:endParaRPr lang="en-US" sz="400" dirty="0"/>
          </a:p>
          <a:p>
            <a:r>
              <a:rPr lang="en-US" sz="400" dirty="0"/>
              <a:t>I served as the Project Manager with overall responsibility for the planning, coordination, and successful delivery of the event, overseeing all operational, logistical, technical, and stakeholder-management workstreams.</a:t>
            </a:r>
          </a:p>
          <a:p>
            <a:r>
              <a:rPr lang="en-US" sz="400" dirty="0"/>
              <a:t>My responsibilities included:</a:t>
            </a:r>
          </a:p>
          <a:p>
            <a:r>
              <a:rPr lang="en-US" sz="400" dirty="0"/>
              <a:t>Leading the project from planning through execution and post-event delivery. </a:t>
            </a:r>
          </a:p>
          <a:p>
            <a:r>
              <a:rPr lang="en-US" sz="400" dirty="0"/>
              <a:t>Acting as the primary point of contact between the Ministry of Finance, international stakeholders, suppliers, and internal project teams. </a:t>
            </a:r>
          </a:p>
          <a:p>
            <a:r>
              <a:rPr lang="en-US" sz="400" dirty="0"/>
              <a:t>Developing and managing the master project plan, timelines, budgets, risk registers, and operational frameworks. </a:t>
            </a:r>
          </a:p>
          <a:p>
            <a:r>
              <a:rPr lang="en-US" sz="400" dirty="0"/>
              <a:t>Directing multidisciplinary teams across operations, logistics, registration, protocol, hospitality, transportation, production, venue management, and technical services. </a:t>
            </a:r>
          </a:p>
          <a:p>
            <a:r>
              <a:rPr lang="en-US" sz="400" dirty="0"/>
              <a:t>Managing stakeholder communications and ensuring alignment between all parties involved in the event. </a:t>
            </a:r>
          </a:p>
          <a:p>
            <a:r>
              <a:rPr lang="en-US" sz="400" dirty="0"/>
              <a:t>Overseeing delegate management, registration processes, accreditation requirements, and participant experience. </a:t>
            </a:r>
          </a:p>
          <a:p>
            <a:r>
              <a:rPr lang="en-US" sz="400" dirty="0"/>
              <a:t>Supervising accommodation, transportation, airport movements, meeting schedules, and protocol arrangements for international attendees. </a:t>
            </a:r>
          </a:p>
          <a:p>
            <a:r>
              <a:rPr lang="en-US" sz="400" dirty="0"/>
              <a:t>Leading venue operations and ensuring all meeting rooms, technical infrastructure, audiovisual systems, interpretation services, and support functions were fully operational. </a:t>
            </a:r>
          </a:p>
          <a:p>
            <a:r>
              <a:rPr lang="en-US" sz="400" dirty="0"/>
              <a:t>Coordinating closely with protocol, security, and government stakeholders to ensure compliance with official requirements and international standards. </a:t>
            </a:r>
          </a:p>
          <a:p>
            <a:r>
              <a:rPr lang="en-US" sz="400" dirty="0"/>
              <a:t>Managing suppliers and service providers, ensuring quality control, contractual compliance, and timely delivery of all project components. </a:t>
            </a:r>
          </a:p>
          <a:p>
            <a:r>
              <a:rPr lang="en-US" sz="400" dirty="0"/>
              <a:t>Overseeing event schedules, meeting flows, executive sessions, networking activities, and stakeholder engagement opportunities. </a:t>
            </a:r>
          </a:p>
          <a:p>
            <a:r>
              <a:rPr lang="en-US" sz="400" dirty="0"/>
              <a:t>Providing on-site leadership and real-time decision-making to ensure smooth execution and immediate resolution of operational challenges. </a:t>
            </a:r>
          </a:p>
          <a:p>
            <a:r>
              <a:rPr lang="en-US" sz="400" dirty="0"/>
              <a:t>As Project Manager, I held full accountability for the event's successful delivery, ensuring that all workstreams operated cohesively and that the Ministry of Finance's objectives were achieved. The role required executive-level stakeholder management, strategic planning, operational leadership, risk management, and the ability to coordinate complex international events involving senior government officials and global experts.</a:t>
            </a:r>
          </a:p>
          <a:p>
            <a:endParaRPr lang="en-US" sz="400" dirty="0"/>
          </a:p>
        </p:txBody>
      </p:sp>
    </p:spTree>
    <p:extLst>
      <p:ext uri="{BB962C8B-B14F-4D97-AF65-F5344CB8AC3E}">
        <p14:creationId xmlns:p14="http://schemas.microsoft.com/office/powerpoint/2010/main" val="2725958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D697D-1EDC-DFD2-9E02-EC8B07C9B174}"/>
              </a:ext>
            </a:extLst>
          </p:cNvPr>
          <p:cNvSpPr>
            <a:spLocks noGrp="1"/>
          </p:cNvSpPr>
          <p:nvPr>
            <p:ph type="title"/>
          </p:nvPr>
        </p:nvSpPr>
        <p:spPr/>
        <p:txBody>
          <a:bodyPr/>
          <a:lstStyle/>
          <a:p>
            <a:r>
              <a:rPr lang="en-US" dirty="0"/>
              <a:t>GGWCUP </a:t>
            </a:r>
          </a:p>
        </p:txBody>
      </p:sp>
      <p:sp>
        <p:nvSpPr>
          <p:cNvPr id="3" name="Content Placeholder 2">
            <a:extLst>
              <a:ext uri="{FF2B5EF4-FFF2-40B4-BE49-F238E27FC236}">
                <a16:creationId xmlns:a16="http://schemas.microsoft.com/office/drawing/2014/main" id="{AFB0026F-51CB-0357-7B54-3EA140A1A6B2}"/>
              </a:ext>
            </a:extLst>
          </p:cNvPr>
          <p:cNvSpPr>
            <a:spLocks noGrp="1"/>
          </p:cNvSpPr>
          <p:nvPr>
            <p:ph idx="1"/>
          </p:nvPr>
        </p:nvSpPr>
        <p:spPr/>
        <p:txBody>
          <a:bodyPr>
            <a:normAutofit fontScale="25000" lnSpcReduction="20000"/>
          </a:bodyPr>
          <a:lstStyle/>
          <a:p>
            <a:r>
              <a:rPr lang="en-US" b="1" dirty="0"/>
              <a:t>Client</a:t>
            </a:r>
          </a:p>
          <a:p>
            <a:r>
              <a:rPr lang="en-US" dirty="0"/>
              <a:t>Saudi Football Association</a:t>
            </a:r>
          </a:p>
          <a:p>
            <a:r>
              <a:rPr lang="en-US" b="1" dirty="0"/>
              <a:t>Event Overview</a:t>
            </a:r>
          </a:p>
          <a:p>
            <a:r>
              <a:rPr lang="en-US" dirty="0"/>
              <a:t>GGWCUP was a competitive gaming and esports event organized by the Saudi Football Association, bringing together players, gaming enthusiasts, partners, sponsors, and spectators in a dynamic tournament environment. The event required close coordination between operations, technology, production, participant management, and venue teams to ensure a seamless experience for both competitors and attendees.</a:t>
            </a:r>
          </a:p>
          <a:p>
            <a:r>
              <a:rPr lang="en-US" b="1" dirty="0"/>
              <a:t>My Role</a:t>
            </a:r>
          </a:p>
          <a:p>
            <a:r>
              <a:rPr lang="en-US" b="1" dirty="0"/>
              <a:t>Project Coordinator</a:t>
            </a:r>
            <a:endParaRPr lang="en-US" dirty="0"/>
          </a:p>
          <a:p>
            <a:r>
              <a:rPr lang="en-US" dirty="0"/>
              <a:t>I worked closely with the Project Manager to support the planning, coordination, and execution of the event, ensuring effective communication and alignment across multiple workstreams and stakeholders.</a:t>
            </a:r>
          </a:p>
          <a:p>
            <a:r>
              <a:rPr lang="en-US" dirty="0"/>
              <a:t>My responsibilities included:</a:t>
            </a:r>
          </a:p>
          <a:p>
            <a:r>
              <a:rPr lang="en-US" dirty="0"/>
              <a:t>Assisting the Project Manager in the day-to-day management of the project and its operational requirements. </a:t>
            </a:r>
          </a:p>
          <a:p>
            <a:r>
              <a:rPr lang="en-US" dirty="0"/>
              <a:t>Coordinating between internal teams, suppliers, venue representatives, and client stakeholders to ensure timely execution of deliverables. </a:t>
            </a:r>
          </a:p>
          <a:p>
            <a:r>
              <a:rPr lang="en-US" dirty="0"/>
              <a:t>Supporting project planning, scheduling, task tracking, and progress monitoring across different departments. </a:t>
            </a:r>
          </a:p>
          <a:p>
            <a:r>
              <a:rPr lang="en-US" dirty="0"/>
              <a:t>Assisting with participant management, registration processes, and event logistics. </a:t>
            </a:r>
          </a:p>
          <a:p>
            <a:r>
              <a:rPr lang="en-US" dirty="0"/>
              <a:t>Coordinating operational requirements related to production, venue setup, branding, technology, and event infrastructure. </a:t>
            </a:r>
          </a:p>
          <a:p>
            <a:r>
              <a:rPr lang="en-US" dirty="0"/>
              <a:t>Supporting supplier and vendor management by tracking deliverables, timelines, and on-site requirements. </a:t>
            </a:r>
          </a:p>
          <a:p>
            <a:r>
              <a:rPr lang="en-US" dirty="0"/>
              <a:t>Preparing and maintaining project documentation, reports, meeting notes, and action trackers. </a:t>
            </a:r>
          </a:p>
          <a:p>
            <a:r>
              <a:rPr lang="en-US" dirty="0"/>
              <a:t>Assisting with event-day operations, ensuring smooth communication between teams and rapid resolution of operational issues. </a:t>
            </a:r>
          </a:p>
          <a:p>
            <a:r>
              <a:rPr lang="en-US" dirty="0"/>
              <a:t>Monitoring project timelines and following up with stakeholders to ensure milestones and deadlines were achieved. </a:t>
            </a:r>
          </a:p>
          <a:p>
            <a:r>
              <a:rPr lang="en-US" dirty="0"/>
              <a:t>Supporting audience management, accreditation processes, and participant experience initiatives where required. </a:t>
            </a:r>
          </a:p>
          <a:p>
            <a:r>
              <a:rPr lang="en-US" dirty="0"/>
              <a:t>Acting as a key coordination point between various workstreams to maintain project alignment and operational efficiency. </a:t>
            </a:r>
          </a:p>
          <a:p>
            <a:r>
              <a:rPr lang="en-US" dirty="0"/>
              <a:t>As Project Coordinator, I played an essential role in supporting the successful delivery of the event by ensuring effective communication, organization, and coordination across all project stakeholders. The position required strong organizational skills, attention to detail, stakeholder management, and the ability to operate effectively within a fast-paced event environment while supporting the overall project leadership team.</a:t>
            </a:r>
          </a:p>
          <a:p>
            <a:endParaRPr lang="en-US" dirty="0"/>
          </a:p>
        </p:txBody>
      </p:sp>
    </p:spTree>
    <p:extLst>
      <p:ext uri="{BB962C8B-B14F-4D97-AF65-F5344CB8AC3E}">
        <p14:creationId xmlns:p14="http://schemas.microsoft.com/office/powerpoint/2010/main" val="3813813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8A903-EF5E-D5D6-082B-C56D470741C3}"/>
              </a:ext>
            </a:extLst>
          </p:cNvPr>
          <p:cNvSpPr>
            <a:spLocks noGrp="1"/>
          </p:cNvSpPr>
          <p:nvPr>
            <p:ph type="title"/>
          </p:nvPr>
        </p:nvSpPr>
        <p:spPr/>
        <p:txBody>
          <a:bodyPr/>
          <a:lstStyle/>
          <a:p>
            <a:r>
              <a:rPr lang="en-US" dirty="0"/>
              <a:t>TAKWEEN – Talent Incubation Program </a:t>
            </a:r>
          </a:p>
        </p:txBody>
      </p:sp>
      <p:sp>
        <p:nvSpPr>
          <p:cNvPr id="3" name="Content Placeholder 2">
            <a:extLst>
              <a:ext uri="{FF2B5EF4-FFF2-40B4-BE49-F238E27FC236}">
                <a16:creationId xmlns:a16="http://schemas.microsoft.com/office/drawing/2014/main" id="{D7A55C4E-1482-9860-AC7D-E671A09F52B1}"/>
              </a:ext>
            </a:extLst>
          </p:cNvPr>
          <p:cNvSpPr>
            <a:spLocks noGrp="1"/>
          </p:cNvSpPr>
          <p:nvPr>
            <p:ph idx="1"/>
          </p:nvPr>
        </p:nvSpPr>
        <p:spPr/>
        <p:txBody>
          <a:bodyPr>
            <a:noAutofit/>
          </a:bodyPr>
          <a:lstStyle/>
          <a:p>
            <a:r>
              <a:rPr lang="en-US" sz="300" b="1" dirty="0"/>
              <a:t>Client</a:t>
            </a:r>
          </a:p>
          <a:p>
            <a:r>
              <a:rPr lang="en-US" sz="300" dirty="0"/>
              <a:t>MAHD Sports Academy</a:t>
            </a:r>
          </a:p>
          <a:p>
            <a:r>
              <a:rPr lang="en-US" sz="300" b="1" dirty="0"/>
              <a:t>Program Overview</a:t>
            </a:r>
          </a:p>
          <a:p>
            <a:r>
              <a:rPr lang="en-US" sz="300" dirty="0"/>
              <a:t>TAKWEEN was a long-term sports talent identification and development initiative designed to discover, develop, and nurture young athletic talent across Riyadh. The program operated over a two-year period and focused on multiple sports disciplines, including football, taekwondo, athletics, and Olympic sports activities such as running, jumping, and physical performance development.</a:t>
            </a:r>
          </a:p>
          <a:p>
            <a:r>
              <a:rPr lang="en-US" sz="300" dirty="0"/>
              <a:t>The initiative required large-scale operational management, participant registration, coach management, performance tracking, talent assessment, and continuous coordination across multiple training locations throughout Riyadh.</a:t>
            </a:r>
          </a:p>
          <a:p>
            <a:r>
              <a:rPr lang="en-US" sz="300" b="1" dirty="0"/>
              <a:t>My Role</a:t>
            </a:r>
          </a:p>
          <a:p>
            <a:r>
              <a:rPr lang="en-US" sz="300" b="1" dirty="0"/>
              <a:t>Project Manager &amp; Program Lead</a:t>
            </a:r>
            <a:endParaRPr lang="en-US" sz="300" dirty="0"/>
          </a:p>
          <a:p>
            <a:r>
              <a:rPr lang="en-US" sz="300" dirty="0"/>
              <a:t>I served as the Project Manager and overall Program Lead, holding full responsibility for the planning, implementation, operational management, and successful delivery of the program throughout its two-year lifecycle.</a:t>
            </a:r>
          </a:p>
          <a:p>
            <a:r>
              <a:rPr lang="en-US" sz="300" dirty="0"/>
              <a:t>My responsibilities included:</a:t>
            </a:r>
          </a:p>
          <a:p>
            <a:r>
              <a:rPr lang="en-US" sz="300" dirty="0"/>
              <a:t>Leading the overall strategy, planning, and execution of the TAKWEEN program across Riyadh. </a:t>
            </a:r>
          </a:p>
          <a:p>
            <a:r>
              <a:rPr lang="en-US" sz="300" dirty="0"/>
              <a:t>Managing all project workstreams, including operations, technology, participant management, coaching resources, reporting, and stakeholder engagement. </a:t>
            </a:r>
          </a:p>
          <a:p>
            <a:r>
              <a:rPr lang="en-US" sz="300" dirty="0"/>
              <a:t>Overseeing the development and management of the official website and digital registration platform. </a:t>
            </a:r>
          </a:p>
          <a:p>
            <a:r>
              <a:rPr lang="en-US" sz="300" dirty="0"/>
              <a:t>Designing and implementing registration systems for students, athletes, coaches, trainers, and program administrators. </a:t>
            </a:r>
          </a:p>
          <a:p>
            <a:r>
              <a:rPr lang="en-US" sz="300" dirty="0"/>
              <a:t>Managing participant enrollment, attendance tracking, data validation, and operational reporting. </a:t>
            </a:r>
          </a:p>
          <a:p>
            <a:r>
              <a:rPr lang="en-US" sz="300" dirty="0"/>
              <a:t>Supervising the delivery of sports and training activities across multiple locations and disciplines throughout Riyadh. </a:t>
            </a:r>
          </a:p>
          <a:p>
            <a:r>
              <a:rPr lang="en-US" sz="300" dirty="0"/>
              <a:t>Coordinating with coaches, sports specialists, venue operators, and operational teams to ensure consistent program delivery and quality standards. </a:t>
            </a:r>
          </a:p>
          <a:p>
            <a:r>
              <a:rPr lang="en-US" sz="300" dirty="0"/>
              <a:t>Leading the development and implementation of talent evaluation and performance assessment systems used to identify high-potential athletes. </a:t>
            </a:r>
          </a:p>
          <a:p>
            <a:r>
              <a:rPr lang="en-US" sz="300" dirty="0"/>
              <a:t>Establishing structured assessment methodologies and reporting mechanisms to support the selection of talented participants for advancement to MAHD Sports Academy programs. </a:t>
            </a:r>
          </a:p>
          <a:p>
            <a:r>
              <a:rPr lang="en-US" sz="300" dirty="0"/>
              <a:t>Managing participant databases, performance analytics, attendance reports, and talent identification metrics. </a:t>
            </a:r>
          </a:p>
          <a:p>
            <a:r>
              <a:rPr lang="en-US" sz="300" dirty="0"/>
              <a:t>Overseeing stakeholder communications, participant engagement, and parent-facing communications throughout the program lifecycle. </a:t>
            </a:r>
          </a:p>
          <a:p>
            <a:r>
              <a:rPr lang="en-US" sz="300" dirty="0"/>
              <a:t>Monitoring operational performance, resolving challenges, managing risks, and ensuring continuous improvement across all program activities. </a:t>
            </a:r>
          </a:p>
          <a:p>
            <a:r>
              <a:rPr lang="en-US" sz="300" dirty="0"/>
              <a:t>Leading multidisciplinary teams responsible for technology, operations, coaching support, logistics, and participant services. </a:t>
            </a:r>
          </a:p>
          <a:p>
            <a:r>
              <a:rPr lang="en-US" sz="300" dirty="0"/>
              <a:t>Providing executive reporting and strategic oversight to ensure alignment with the objectives of MAHD Sports Academy. </a:t>
            </a:r>
          </a:p>
          <a:p>
            <a:r>
              <a:rPr lang="en-US" sz="300" dirty="0"/>
              <a:t>As Project Manager, I held end-to-end responsibility for one of the Kingdom's most ambitious youth sports development initiatives. The role required leadership across technology, operations, talent identification, sports program management, data analytics, stakeholder engagement, and long-term program delivery, ensuring that thousands of participants received a structured pathway for development while enabling MAHD Sports Academy to identify and nurture the next generation of Saudi sporting talent.</a:t>
            </a:r>
          </a:p>
          <a:p>
            <a:endParaRPr lang="en-US" sz="300" dirty="0"/>
          </a:p>
        </p:txBody>
      </p:sp>
    </p:spTree>
    <p:extLst>
      <p:ext uri="{BB962C8B-B14F-4D97-AF65-F5344CB8AC3E}">
        <p14:creationId xmlns:p14="http://schemas.microsoft.com/office/powerpoint/2010/main" val="1975623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9ABF3-5BC1-5AEF-93DE-BB82094AC32F}"/>
              </a:ext>
            </a:extLst>
          </p:cNvPr>
          <p:cNvSpPr>
            <a:spLocks noGrp="1"/>
          </p:cNvSpPr>
          <p:nvPr>
            <p:ph type="title"/>
          </p:nvPr>
        </p:nvSpPr>
        <p:spPr/>
        <p:txBody>
          <a:bodyPr/>
          <a:lstStyle/>
          <a:p>
            <a:r>
              <a:rPr lang="en-US" dirty="0"/>
              <a:t>SAMA-BIS Innovation Summit </a:t>
            </a:r>
          </a:p>
        </p:txBody>
      </p:sp>
      <p:sp>
        <p:nvSpPr>
          <p:cNvPr id="3" name="Content Placeholder 2">
            <a:extLst>
              <a:ext uri="{FF2B5EF4-FFF2-40B4-BE49-F238E27FC236}">
                <a16:creationId xmlns:a16="http://schemas.microsoft.com/office/drawing/2014/main" id="{7DB9B72B-0C8F-478F-BCC6-0268B4CDCE98}"/>
              </a:ext>
            </a:extLst>
          </p:cNvPr>
          <p:cNvSpPr>
            <a:spLocks noGrp="1"/>
          </p:cNvSpPr>
          <p:nvPr>
            <p:ph idx="1"/>
          </p:nvPr>
        </p:nvSpPr>
        <p:spPr/>
        <p:txBody>
          <a:bodyPr>
            <a:noAutofit/>
          </a:bodyPr>
          <a:lstStyle/>
          <a:p>
            <a:r>
              <a:rPr lang="en-US" sz="200" b="1" dirty="0"/>
              <a:t>Client</a:t>
            </a:r>
          </a:p>
          <a:p>
            <a:r>
              <a:rPr lang="en-US" sz="200" dirty="0"/>
              <a:t>Saudi Central Bank (SAMA) in partnership with Bank for International Settlements.</a:t>
            </a:r>
          </a:p>
          <a:p>
            <a:r>
              <a:rPr lang="en-US" sz="200" b="1" dirty="0"/>
              <a:t>Event Sensitivity</a:t>
            </a:r>
          </a:p>
          <a:p>
            <a:r>
              <a:rPr lang="en-US" sz="200" dirty="0"/>
              <a:t>The SAMA-BIS Innovation Summit was a highly prestigious international event bringing together central bank governors, senior policymakers, financial regulators, international organizations, fintech leaders, and global experts to discuss the future of financial innovation, digital transformation, emerging technologies, and the evolution of the global financial system.</a:t>
            </a:r>
          </a:p>
          <a:p>
            <a:r>
              <a:rPr lang="en-US" sz="200" dirty="0"/>
              <a:t>The event involved high-level government stakeholders, international delegates, VIP guests, speakers, and media representatives, requiring strict protocol management, security coordination, confidentiality, and flawless operational execution.</a:t>
            </a:r>
          </a:p>
          <a:p>
            <a:r>
              <a:rPr lang="en-US" sz="200" b="1" dirty="0"/>
              <a:t>My Role</a:t>
            </a:r>
          </a:p>
          <a:p>
            <a:r>
              <a:rPr lang="en-US" sz="200" b="1" dirty="0"/>
              <a:t>Project Manager &amp; Project Lead</a:t>
            </a:r>
            <a:endParaRPr lang="en-US" sz="200" dirty="0"/>
          </a:p>
          <a:p>
            <a:r>
              <a:rPr lang="en-US" sz="200" dirty="0"/>
              <a:t>I served as the overall Project Manager and primary client lead, taking ownership of the project from planning through execution while managing stakeholder relationships, operational delivery, strategic decision-making, and cross-functional team coordination.</a:t>
            </a:r>
          </a:p>
          <a:p>
            <a:r>
              <a:rPr lang="en-US" sz="200" dirty="0"/>
              <a:t>My responsibilities included:</a:t>
            </a:r>
          </a:p>
          <a:p>
            <a:r>
              <a:rPr lang="en-US" sz="200" dirty="0"/>
              <a:t>Acting as the primary point of contact between the client, partners, suppliers, and internal teams, ensuring clear communication and strong stakeholder relationships throughout the project lifecycle. </a:t>
            </a:r>
          </a:p>
          <a:p>
            <a:r>
              <a:rPr lang="en-US" sz="200" dirty="0"/>
              <a:t>Building and maintaining trusted relationships with senior representatives from SAMA and BIS, ensuring alignment with expectations, objectives, and evolving requirements. </a:t>
            </a:r>
          </a:p>
          <a:p>
            <a:r>
              <a:rPr lang="en-US" sz="200" dirty="0"/>
              <a:t>Leading project governance, planning, scheduling, budgeting, risk management, and overall delivery strategy. </a:t>
            </a:r>
          </a:p>
          <a:p>
            <a:r>
              <a:rPr lang="en-US" sz="200" dirty="0"/>
              <a:t>Managing multidisciplinary teams across registration, logistics, protocol, operations, production, design, technology, content, hospitality, transportation, accommodation, and delegate services. </a:t>
            </a:r>
          </a:p>
          <a:p>
            <a:r>
              <a:rPr lang="en-US" sz="200" dirty="0"/>
              <a:t>Overseeing the registration ecosystem, attendee management processes, invitation workflows, accreditation systems, companion management, and delegate communications. </a:t>
            </a:r>
          </a:p>
          <a:p>
            <a:r>
              <a:rPr lang="en-US" sz="200" dirty="0"/>
              <a:t>Leading the website and digital platform workstreams, ensuring all registration, information, and communication channels operated effectively. </a:t>
            </a:r>
          </a:p>
          <a:p>
            <a:r>
              <a:rPr lang="en-US" sz="200" dirty="0"/>
              <a:t>Managing coordination between international relations teams, protocol teams, logistics teams, accommodation providers, transportation partners, and venue stakeholders. </a:t>
            </a:r>
          </a:p>
          <a:p>
            <a:r>
              <a:rPr lang="en-US" sz="200" dirty="0"/>
              <a:t>Supervising speaker management processes, including invitation workflows, profile collection, logistics coordination, companion management, and communication tracking. </a:t>
            </a:r>
          </a:p>
          <a:p>
            <a:r>
              <a:rPr lang="en-US" sz="200" dirty="0"/>
              <a:t>Overseeing audience segmentation and attendee categorization, including governors, central bank representatives, international organizations, speakers, delegates, VIP guests, media representatives, companions, and operational teams. </a:t>
            </a:r>
          </a:p>
          <a:p>
            <a:r>
              <a:rPr lang="en-US" sz="200" dirty="0"/>
              <a:t>Leading operational planning and execution for venue readiness, attendee journeys, delegate experience, access management, and event flow. </a:t>
            </a:r>
          </a:p>
          <a:p>
            <a:r>
              <a:rPr lang="en-US" sz="200" dirty="0"/>
              <a:t>Coordinating closely with security and protocol teams to ensure controlled access, VIP movement planning, and compliance with high-level event requirements. </a:t>
            </a:r>
          </a:p>
          <a:p>
            <a:r>
              <a:rPr lang="en-US" sz="200" dirty="0"/>
              <a:t>Managing production and technical workstreams, including stage requirements, audiovisual coordination, branding implementation, signage, digital solutions, and event technology. </a:t>
            </a:r>
          </a:p>
          <a:p>
            <a:r>
              <a:rPr lang="en-US" sz="200" dirty="0"/>
              <a:t>Monitoring project performance through reporting, operational dashboards, status tracking, and regular client meetings. </a:t>
            </a:r>
          </a:p>
          <a:p>
            <a:r>
              <a:rPr lang="en-US" sz="200" dirty="0"/>
              <a:t>Leading problem-solving and decision-making processes throughout the project, ensuring challenges were addressed quickly while maintaining stakeholder confidence. </a:t>
            </a:r>
          </a:p>
          <a:p>
            <a:r>
              <a:rPr lang="en-US" sz="200" dirty="0"/>
              <a:t>Providing on-site leadership during setup, rehearsals, live operations, and event delivery, ensuring all teams worked cohesively and that the participant experience met the highest standards. </a:t>
            </a:r>
          </a:p>
          <a:p>
            <a:r>
              <a:rPr lang="en-US" sz="200" b="1" dirty="0"/>
              <a:t>Leadership Impact</a:t>
            </a:r>
          </a:p>
          <a:p>
            <a:r>
              <a:rPr lang="en-US" sz="200" dirty="0"/>
              <a:t>As Project Lead, I was responsible for bringing together multiple workstreams into a single coordinated operation while maintaining a strong and trusted relationship with one of the Kingdom's most important institutions. Beyond managing logistics and operations, my role focused on ensuring stakeholder confidence, aligning internal and external teams, driving accountability, and maintaining exceptional service standards throughout the project lifecycle.</a:t>
            </a:r>
          </a:p>
          <a:p>
            <a:r>
              <a:rPr lang="en-US" sz="200" dirty="0"/>
              <a:t>The role required executive-level client servicing, strategic planning, operational leadership, risk management, international stakeholder coordination, and the ability to manage a highly visible and complex summit involving global financial leaders, central bank governors, and senior decision-makers from around the world.</a:t>
            </a:r>
          </a:p>
          <a:p>
            <a:endParaRPr lang="en-US" sz="200" dirty="0"/>
          </a:p>
        </p:txBody>
      </p:sp>
    </p:spTree>
    <p:extLst>
      <p:ext uri="{BB962C8B-B14F-4D97-AF65-F5344CB8AC3E}">
        <p14:creationId xmlns:p14="http://schemas.microsoft.com/office/powerpoint/2010/main" val="2814741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78853-04C7-7CCC-63B6-6ED9F21D08AF}"/>
              </a:ext>
            </a:extLst>
          </p:cNvPr>
          <p:cNvSpPr>
            <a:spLocks noGrp="1"/>
          </p:cNvSpPr>
          <p:nvPr>
            <p:ph type="title"/>
          </p:nvPr>
        </p:nvSpPr>
        <p:spPr/>
        <p:txBody>
          <a:bodyPr/>
          <a:lstStyle/>
          <a:p>
            <a:r>
              <a:rPr lang="en-US" dirty="0"/>
              <a:t>BlackRock Middle East Investment Forum (MIF)</a:t>
            </a:r>
          </a:p>
        </p:txBody>
      </p:sp>
      <p:sp>
        <p:nvSpPr>
          <p:cNvPr id="3" name="Content Placeholder 2">
            <a:extLst>
              <a:ext uri="{FF2B5EF4-FFF2-40B4-BE49-F238E27FC236}">
                <a16:creationId xmlns:a16="http://schemas.microsoft.com/office/drawing/2014/main" id="{FCB7D151-5CBE-3B36-AC6F-7B4047F1CA7C}"/>
              </a:ext>
            </a:extLst>
          </p:cNvPr>
          <p:cNvSpPr>
            <a:spLocks noGrp="1"/>
          </p:cNvSpPr>
          <p:nvPr>
            <p:ph idx="1"/>
          </p:nvPr>
        </p:nvSpPr>
        <p:spPr/>
        <p:txBody>
          <a:bodyPr>
            <a:noAutofit/>
          </a:bodyPr>
          <a:lstStyle/>
          <a:p>
            <a:r>
              <a:rPr lang="en-US" sz="300" b="1" dirty="0"/>
              <a:t>Client</a:t>
            </a:r>
          </a:p>
          <a:p>
            <a:r>
              <a:rPr lang="en-US" sz="300" dirty="0"/>
              <a:t>BlackRock</a:t>
            </a:r>
          </a:p>
          <a:p>
            <a:r>
              <a:rPr lang="en-US" sz="300" b="1" dirty="0"/>
              <a:t>Location</a:t>
            </a:r>
          </a:p>
          <a:p>
            <a:r>
              <a:rPr lang="en-US" sz="300" dirty="0"/>
              <a:t>The Ritz-Carlton Riyadh</a:t>
            </a:r>
          </a:p>
          <a:p>
            <a:r>
              <a:rPr lang="en-US" sz="300" b="1" dirty="0"/>
              <a:t>Event Overview</a:t>
            </a:r>
          </a:p>
          <a:p>
            <a:r>
              <a:rPr lang="en-US" sz="300" dirty="0"/>
              <a:t>The BlackRock Middle East Investment Forum (MIF) was a high-profile investment conference that brought together senior government officials, institutional investors, financial leaders, business executives, economists, sovereign wealth funds, asset managers, and industry experts from across the Middle East and international markets.</a:t>
            </a:r>
          </a:p>
          <a:p>
            <a:r>
              <a:rPr lang="en-US" sz="300" dirty="0"/>
              <a:t>The forum served as a platform for discussions on investment trends, economic outlooks, capital markets, sustainable growth, and the evolving investment landscape within the region.</a:t>
            </a:r>
          </a:p>
          <a:p>
            <a:r>
              <a:rPr lang="en-US" sz="300" b="1" dirty="0"/>
              <a:t>My Role</a:t>
            </a:r>
          </a:p>
          <a:p>
            <a:r>
              <a:rPr lang="en-US" sz="300" b="1" dirty="0"/>
              <a:t>Project Manager</a:t>
            </a:r>
            <a:endParaRPr lang="en-US" sz="300" dirty="0"/>
          </a:p>
          <a:p>
            <a:r>
              <a:rPr lang="en-US" sz="300" dirty="0"/>
              <a:t>I served as the Project Manager with full responsibility for the planning, coordination, and execution of the forum, ensuring the successful delivery of all operational, technical, logistical, and stakeholder-management workstreams.</a:t>
            </a:r>
          </a:p>
          <a:p>
            <a:r>
              <a:rPr lang="en-US" sz="300" dirty="0"/>
              <a:t>My responsibilities included:</a:t>
            </a:r>
          </a:p>
          <a:p>
            <a:r>
              <a:rPr lang="en-US" sz="300" dirty="0"/>
              <a:t>Leading the project from inception through execution and post-event delivery. </a:t>
            </a:r>
          </a:p>
          <a:p>
            <a:r>
              <a:rPr lang="en-US" sz="300" dirty="0"/>
              <a:t>Acting as the primary point of contact between BlackRock and the project team, ensuring strong client relationships and consistent communication throughout the planning process. </a:t>
            </a:r>
          </a:p>
          <a:p>
            <a:r>
              <a:rPr lang="en-US" sz="300" dirty="0"/>
              <a:t>Managing project timelines, deliverables, budgets, risk assessments, and resource allocation. </a:t>
            </a:r>
          </a:p>
          <a:p>
            <a:r>
              <a:rPr lang="en-US" sz="300" dirty="0"/>
              <a:t>Coordinating multidisciplinary teams across registration, operations, logistics, protocol, production, technology, hospitality, transportation, and venue management. </a:t>
            </a:r>
          </a:p>
          <a:p>
            <a:r>
              <a:rPr lang="en-US" sz="300" dirty="0"/>
              <a:t>Overseeing the registration process, attendee management strategy, accreditation requirements, and delegate experience. </a:t>
            </a:r>
          </a:p>
          <a:p>
            <a:r>
              <a:rPr lang="en-US" sz="300" dirty="0"/>
              <a:t>Managing VIP guest journeys, executive hospitality requirements, protocol considerations, and stakeholder engagement plans. </a:t>
            </a:r>
          </a:p>
          <a:p>
            <a:r>
              <a:rPr lang="en-US" sz="300" dirty="0"/>
              <a:t>Leading venue operations planning, including room setups, meeting spaces, registration areas, signage, branding, and attendee flow. </a:t>
            </a:r>
          </a:p>
          <a:p>
            <a:r>
              <a:rPr lang="en-US" sz="300" dirty="0"/>
              <a:t>Coordinating production and technical workstreams, including audiovisual systems, presentations, stage management, content playback, and event technology. </a:t>
            </a:r>
          </a:p>
          <a:p>
            <a:r>
              <a:rPr lang="en-US" sz="300" dirty="0"/>
              <a:t>Managing supplier relationships, contractor performance, and quality assurance across all event deliverables. </a:t>
            </a:r>
          </a:p>
          <a:p>
            <a:r>
              <a:rPr lang="en-US" sz="300" dirty="0"/>
              <a:t>Overseeing communication flows between stakeholders, speakers, sponsors, partners, and operational teams. </a:t>
            </a:r>
          </a:p>
          <a:p>
            <a:r>
              <a:rPr lang="en-US" sz="300" dirty="0"/>
              <a:t>Monitoring project progress through regular reporting, client updates, operational reviews, and issue-resolution processes. </a:t>
            </a:r>
          </a:p>
          <a:p>
            <a:r>
              <a:rPr lang="en-US" sz="300" dirty="0"/>
              <a:t>Providing on-site leadership during setup, rehearsals, live operations, and event execution to ensure a seamless attendee experience. </a:t>
            </a:r>
          </a:p>
          <a:p>
            <a:r>
              <a:rPr lang="en-US" sz="300" b="1" dirty="0"/>
              <a:t>Leadership Impact</a:t>
            </a:r>
          </a:p>
          <a:p>
            <a:r>
              <a:rPr lang="en-US" sz="300" dirty="0"/>
              <a:t>As Project Manager, I was responsible for ensuring that all project workstreams operated as one integrated operation while maintaining BlackRock's high standards of professionalism and execution. My role required strategic planning, stakeholder management, operational leadership, client servicing, risk mitigation, and the ability to manage a complex, high-profile investment forum attended by senior executives and influential decision-makers from across the region and beyond.</a:t>
            </a:r>
          </a:p>
          <a:p>
            <a:endParaRPr lang="en-US" sz="300" dirty="0"/>
          </a:p>
        </p:txBody>
      </p:sp>
    </p:spTree>
    <p:extLst>
      <p:ext uri="{BB962C8B-B14F-4D97-AF65-F5344CB8AC3E}">
        <p14:creationId xmlns:p14="http://schemas.microsoft.com/office/powerpoint/2010/main" val="3850600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8B412-8ECA-6886-5C6E-8CA84693B15C}"/>
              </a:ext>
            </a:extLst>
          </p:cNvPr>
          <p:cNvSpPr>
            <a:spLocks noGrp="1"/>
          </p:cNvSpPr>
          <p:nvPr>
            <p:ph type="title"/>
          </p:nvPr>
        </p:nvSpPr>
        <p:spPr/>
        <p:txBody>
          <a:bodyPr>
            <a:normAutofit fontScale="90000"/>
          </a:bodyPr>
          <a:lstStyle/>
          <a:p>
            <a:pPr algn="ctr"/>
            <a:r>
              <a:rPr lang="en-US" b="1" dirty="0">
                <a:latin typeface="DIN Next LT Arabic" panose="020B0503020203050203" pitchFamily="34" charset="-78"/>
                <a:cs typeface="DIN Next LT Arabic" panose="020B0503020203050203" pitchFamily="34" charset="-78"/>
              </a:rPr>
              <a:t>Investment Attraction Forum – Head of State </a:t>
            </a:r>
            <a:br>
              <a:rPr lang="ar-SA" b="1" dirty="0">
                <a:latin typeface="DIN Next LT Arabic" panose="020B0503020203050203" pitchFamily="34" charset="-78"/>
                <a:cs typeface="DIN Next LT Arabic" panose="020B0503020203050203" pitchFamily="34" charset="-78"/>
              </a:rPr>
            </a:br>
            <a:br>
              <a:rPr lang="ar-SA" b="1" dirty="0">
                <a:latin typeface="DIN Next LT Arabic" panose="020B0503020203050203" pitchFamily="34" charset="-78"/>
                <a:cs typeface="DIN Next LT Arabic" panose="020B0503020203050203" pitchFamily="34" charset="-78"/>
              </a:rPr>
            </a:br>
            <a:endParaRPr lang="en-US" dirty="0"/>
          </a:p>
        </p:txBody>
      </p:sp>
      <p:sp>
        <p:nvSpPr>
          <p:cNvPr id="3" name="Content Placeholder 2">
            <a:extLst>
              <a:ext uri="{FF2B5EF4-FFF2-40B4-BE49-F238E27FC236}">
                <a16:creationId xmlns:a16="http://schemas.microsoft.com/office/drawing/2014/main" id="{6F94FBE3-E0D4-5324-F608-05641C1BF5C8}"/>
              </a:ext>
            </a:extLst>
          </p:cNvPr>
          <p:cNvSpPr>
            <a:spLocks noGrp="1"/>
          </p:cNvSpPr>
          <p:nvPr>
            <p:ph idx="1"/>
          </p:nvPr>
        </p:nvSpPr>
        <p:spPr/>
        <p:txBody>
          <a:bodyPr>
            <a:noAutofit/>
          </a:bodyPr>
          <a:lstStyle/>
          <a:p>
            <a:r>
              <a:rPr lang="en-US" sz="400" b="1" dirty="0"/>
              <a:t>Client</a:t>
            </a:r>
          </a:p>
          <a:p>
            <a:r>
              <a:rPr lang="en-US" sz="400" dirty="0"/>
              <a:t>BlackRock</a:t>
            </a:r>
          </a:p>
          <a:p>
            <a:r>
              <a:rPr lang="en-US" sz="400" b="1" dirty="0"/>
              <a:t>Event Overview</a:t>
            </a:r>
          </a:p>
          <a:p>
            <a:r>
              <a:rPr lang="en-US" sz="400" dirty="0"/>
              <a:t>The Investment Attraction Forum – Head of State was a high-level investment and economic forum that brought together senior government officials, heads of state, ministers, global investors, sovereign wealth funds, financial institutions, business leaders, and strategic partners to discuss investment opportunities, economic development, and cross-border partnerships.</a:t>
            </a:r>
          </a:p>
          <a:p>
            <a:r>
              <a:rPr lang="en-US" sz="400" dirty="0"/>
              <a:t>Given the profile of attendees and participating stakeholders, the event required exceptional levels of planning, protocol management, security coordination, stakeholder engagement, and operational excellence.</a:t>
            </a:r>
          </a:p>
          <a:p>
            <a:r>
              <a:rPr lang="en-US" sz="400" b="1" dirty="0"/>
              <a:t>My Role</a:t>
            </a:r>
          </a:p>
          <a:p>
            <a:r>
              <a:rPr lang="en-US" sz="400" b="1" dirty="0"/>
              <a:t>Project Manager</a:t>
            </a:r>
            <a:endParaRPr lang="en-US" sz="400" dirty="0"/>
          </a:p>
          <a:p>
            <a:r>
              <a:rPr lang="en-US" sz="400" dirty="0"/>
              <a:t>I served as the Project Manager with overall responsibility for the planning, management, and successful execution of the event, overseeing all project workstreams from concept development through final delivery.</a:t>
            </a:r>
          </a:p>
          <a:p>
            <a:r>
              <a:rPr lang="en-US" sz="400" dirty="0"/>
              <a:t>My responsibilities included:</a:t>
            </a:r>
          </a:p>
          <a:p>
            <a:r>
              <a:rPr lang="en-US" sz="400" dirty="0"/>
              <a:t>Acting as the primary project lead and main point of contact between BlackRock, stakeholders, suppliers, and internal teams. </a:t>
            </a:r>
          </a:p>
          <a:p>
            <a:r>
              <a:rPr lang="en-US" sz="400" dirty="0"/>
              <a:t>Managing the overall project strategy, planning, timelines, budgets, risk management plans, and execution framework. </a:t>
            </a:r>
          </a:p>
          <a:p>
            <a:r>
              <a:rPr lang="en-US" sz="400" dirty="0"/>
              <a:t>Leading multidisciplinary teams across operations, logistics, production, protocol, registration, hospitality, transportation, technology, and venue management. </a:t>
            </a:r>
          </a:p>
          <a:p>
            <a:r>
              <a:rPr lang="en-US" sz="400" dirty="0"/>
              <a:t>Coordinating closely with protocol, security, and government stakeholders to ensure compliance with high-level diplomatic and executive requirements. </a:t>
            </a:r>
          </a:p>
          <a:p>
            <a:r>
              <a:rPr lang="en-US" sz="400" dirty="0"/>
              <a:t>Overseeing VIP management and executive guest experiences, including arrival protocols, hospitality, transportation, access control, and movement planning. </a:t>
            </a:r>
          </a:p>
          <a:p>
            <a:r>
              <a:rPr lang="en-US" sz="400" dirty="0"/>
              <a:t>Managing event operations, venue readiness, meeting spaces, registration processes, accreditation systems, and attendee journeys. </a:t>
            </a:r>
          </a:p>
          <a:p>
            <a:r>
              <a:rPr lang="en-US" sz="400" dirty="0"/>
              <a:t>Supervising production and technical workstreams, including stage management, audiovisual systems, presentations, branding implementation, and event technology. </a:t>
            </a:r>
          </a:p>
          <a:p>
            <a:r>
              <a:rPr lang="en-US" sz="400" dirty="0"/>
              <a:t>Managing suppliers, contractors, and service providers while ensuring quality control and timely delivery of all event components. </a:t>
            </a:r>
          </a:p>
          <a:p>
            <a:r>
              <a:rPr lang="en-US" sz="400" dirty="0"/>
              <a:t>Leading stakeholder communications and ensuring alignment between all parties involved in the project. </a:t>
            </a:r>
          </a:p>
          <a:p>
            <a:r>
              <a:rPr lang="en-US" sz="400" dirty="0"/>
              <a:t>Monitoring project performance, resolving operational challenges, mitigating risks, and ensuring all deliverables were completed to the highest standards. </a:t>
            </a:r>
          </a:p>
          <a:p>
            <a:r>
              <a:rPr lang="en-US" sz="400" dirty="0"/>
              <a:t>Providing on-site leadership throughout setup, rehearsals, live operations, and event execution. </a:t>
            </a:r>
          </a:p>
          <a:p>
            <a:r>
              <a:rPr lang="en-US" sz="400" b="1" dirty="0"/>
              <a:t>Leadership Impact</a:t>
            </a:r>
          </a:p>
          <a:p>
            <a:r>
              <a:rPr lang="en-US" sz="400" dirty="0"/>
              <a:t>As Project Manager, I held end-to-end responsibility for the successful delivery of a highly sensitive and prestigious international forum involving senior government leaders, investors, and global decision-makers. My role extended beyond operational management to include executive stakeholder engagement, strategic planning, risk management, protocol coordination, and leadership of multiple teams working simultaneously to deliver a seamless and world-class event experience.</a:t>
            </a:r>
          </a:p>
          <a:p>
            <a:r>
              <a:rPr lang="en-US" sz="400" dirty="0"/>
              <a:t>The position required strong leadership, diplomacy, stakeholder management, operational expertise, and the ability to manage complex, high-profile events where precision, discretion, and excellence were essential.</a:t>
            </a:r>
          </a:p>
          <a:p>
            <a:endParaRPr lang="en-US" sz="400" dirty="0"/>
          </a:p>
        </p:txBody>
      </p:sp>
    </p:spTree>
    <p:extLst>
      <p:ext uri="{BB962C8B-B14F-4D97-AF65-F5344CB8AC3E}">
        <p14:creationId xmlns:p14="http://schemas.microsoft.com/office/powerpoint/2010/main" val="3304276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6665</Words>
  <Application>Microsoft Office PowerPoint</Application>
  <PresentationFormat>Widescreen</PresentationFormat>
  <Paragraphs>350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DIN Next LT Arabic</vt:lpstr>
      <vt:lpstr>Office Theme</vt:lpstr>
      <vt:lpstr>Jad’s Profile </vt:lpstr>
      <vt:lpstr>ALULA Conference For Emerging Market Economies </vt:lpstr>
      <vt:lpstr>BIBAN23</vt:lpstr>
      <vt:lpstr>Regional Social Security Forum for Asia and the pacific </vt:lpstr>
      <vt:lpstr>Saudi Arab African Economic Conference </vt:lpstr>
      <vt:lpstr>Capital Market Institutions Forum 2023</vt:lpstr>
      <vt:lpstr>Capital Market Institutions Forum 2021</vt:lpstr>
      <vt:lpstr>Souq Al Dar 2025</vt:lpstr>
      <vt:lpstr>THIQAH 10 years Celebration </vt:lpstr>
      <vt:lpstr>MODON Annual Gathering </vt:lpstr>
      <vt:lpstr>IPSASB </vt:lpstr>
      <vt:lpstr>GGWCUP </vt:lpstr>
      <vt:lpstr>TAKWEEN – Talent Incubation Program </vt:lpstr>
      <vt:lpstr>SAMA-BIS Innovation Summit </vt:lpstr>
      <vt:lpstr>BlackRock Middle East Investment Forum (MIF)</vt:lpstr>
      <vt:lpstr>Investment Attraction Forum – Head of State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jad assaf</dc:creator>
  <cp:lastModifiedBy>jad assaf</cp:lastModifiedBy>
  <cp:revision>1</cp:revision>
  <dcterms:created xsi:type="dcterms:W3CDTF">2026-06-07T14:58:01Z</dcterms:created>
  <dcterms:modified xsi:type="dcterms:W3CDTF">2026-06-07T15:41:51Z</dcterms:modified>
</cp:coreProperties>
</file>